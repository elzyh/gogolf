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ink/ink1.xml" ContentType="application/inkml+xml"/>
  <Override PartName="/ppt/ink/ink2.xml" ContentType="application/inkml+xml"/>
  <Override PartName="/ppt/tags/tag2.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3"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96BE"/>
    <a:srgbClr val="FF8500"/>
    <a:srgbClr val="EDC9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7" d="100"/>
          <a:sy n="107" d="100"/>
        </p:scale>
        <p:origin x="198" y="4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7D7905-0815-46A6-9745-2C18B54A65FA}"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0141242D-9126-48A8-80F0-3C8A37E0C6CE}">
      <dgm:prSet/>
      <dgm:spPr>
        <a:solidFill>
          <a:srgbClr val="2596BE"/>
        </a:solidFill>
      </dgm:spPr>
      <dgm:t>
        <a:bodyPr/>
        <a:lstStyle/>
        <a:p>
          <a:r>
            <a:rPr lang="en-US" dirty="0">
              <a:latin typeface="+mj-lt"/>
            </a:rPr>
            <a:t>To be able use OOP to create object, to interact with each other</a:t>
          </a:r>
        </a:p>
      </dgm:t>
    </dgm:pt>
    <dgm:pt modelId="{88CDA2B4-912F-4518-99C0-4C6ABE498566}" type="parTrans" cxnId="{B8A17D86-F077-4C24-8F17-C8923AD3E84D}">
      <dgm:prSet/>
      <dgm:spPr/>
      <dgm:t>
        <a:bodyPr/>
        <a:lstStyle/>
        <a:p>
          <a:endParaRPr lang="en-US"/>
        </a:p>
      </dgm:t>
    </dgm:pt>
    <dgm:pt modelId="{35B7837D-AB94-4647-8935-7BB6BB6B4CAC}" type="sibTrans" cxnId="{B8A17D86-F077-4C24-8F17-C8923AD3E84D}">
      <dgm:prSet/>
      <dgm:spPr/>
      <dgm:t>
        <a:bodyPr/>
        <a:lstStyle/>
        <a:p>
          <a:endParaRPr lang="en-US"/>
        </a:p>
      </dgm:t>
    </dgm:pt>
    <dgm:pt modelId="{3BDDF8EB-B3E0-4C95-9E0F-3CC3E3BEBB42}">
      <dgm:prSet/>
      <dgm:spPr>
        <a:solidFill>
          <a:srgbClr val="2596BE"/>
        </a:solidFill>
      </dgm:spPr>
      <dgm:t>
        <a:bodyPr/>
        <a:lstStyle/>
        <a:p>
          <a:r>
            <a:rPr lang="en-US" dirty="0">
              <a:latin typeface="+mj-lt"/>
            </a:rPr>
            <a:t>To add all mentioned features into a working build</a:t>
          </a:r>
        </a:p>
      </dgm:t>
    </dgm:pt>
    <dgm:pt modelId="{F82FDF24-8D0D-4793-9D4C-635ACFA96977}" type="parTrans" cxnId="{68C802D0-1DCF-4D83-8A1F-FECE5D9EAD60}">
      <dgm:prSet/>
      <dgm:spPr/>
      <dgm:t>
        <a:bodyPr/>
        <a:lstStyle/>
        <a:p>
          <a:endParaRPr lang="en-US"/>
        </a:p>
      </dgm:t>
    </dgm:pt>
    <dgm:pt modelId="{A806DDA8-5450-46CF-8A53-A5BB3A3235C2}" type="sibTrans" cxnId="{68C802D0-1DCF-4D83-8A1F-FECE5D9EAD60}">
      <dgm:prSet/>
      <dgm:spPr/>
      <dgm:t>
        <a:bodyPr/>
        <a:lstStyle/>
        <a:p>
          <a:endParaRPr lang="en-US"/>
        </a:p>
      </dgm:t>
    </dgm:pt>
    <dgm:pt modelId="{46B98665-2FC1-4C46-8105-FC9C783E9932}">
      <dgm:prSet/>
      <dgm:spPr>
        <a:solidFill>
          <a:srgbClr val="2596BE"/>
        </a:solidFill>
      </dgm:spPr>
      <dgm:t>
        <a:bodyPr/>
        <a:lstStyle/>
        <a:p>
          <a:r>
            <a:rPr lang="en-US" dirty="0">
              <a:latin typeface="+mj-lt"/>
            </a:rPr>
            <a:t>To write clear and easy to read code</a:t>
          </a:r>
        </a:p>
      </dgm:t>
    </dgm:pt>
    <dgm:pt modelId="{8157260C-D104-4AD0-84E1-F82328FB510E}" type="parTrans" cxnId="{3E5DE99D-08DE-4A47-8073-DACE0D86BCF6}">
      <dgm:prSet/>
      <dgm:spPr/>
      <dgm:t>
        <a:bodyPr/>
        <a:lstStyle/>
        <a:p>
          <a:endParaRPr lang="en-US"/>
        </a:p>
      </dgm:t>
    </dgm:pt>
    <dgm:pt modelId="{7A142ED3-F449-478F-BD0A-2AC20BD92F33}" type="sibTrans" cxnId="{3E5DE99D-08DE-4A47-8073-DACE0D86BCF6}">
      <dgm:prSet/>
      <dgm:spPr/>
      <dgm:t>
        <a:bodyPr/>
        <a:lstStyle/>
        <a:p>
          <a:endParaRPr lang="en-US"/>
        </a:p>
      </dgm:t>
    </dgm:pt>
    <dgm:pt modelId="{420C4D07-67DD-4358-8385-111903DD392F}">
      <dgm:prSet/>
      <dgm:spPr>
        <a:solidFill>
          <a:srgbClr val="2596BE"/>
        </a:solidFill>
      </dgm:spPr>
      <dgm:t>
        <a:bodyPr/>
        <a:lstStyle/>
        <a:p>
          <a:r>
            <a:rPr lang="en-US" dirty="0">
              <a:latin typeface="+mj-lt"/>
            </a:rPr>
            <a:t>To try to get most performance out of using an interpreter language with game engine that more software dependent</a:t>
          </a:r>
        </a:p>
      </dgm:t>
    </dgm:pt>
    <dgm:pt modelId="{B783269A-EB55-4B41-96F3-46C021404C78}" type="parTrans" cxnId="{78F7660B-9E62-4E05-A1F0-5A4757B9F242}">
      <dgm:prSet/>
      <dgm:spPr/>
      <dgm:t>
        <a:bodyPr/>
        <a:lstStyle/>
        <a:p>
          <a:endParaRPr lang="en-US"/>
        </a:p>
      </dgm:t>
    </dgm:pt>
    <dgm:pt modelId="{1C4B7AE4-772C-4308-866E-65125F4A022F}" type="sibTrans" cxnId="{78F7660B-9E62-4E05-A1F0-5A4757B9F242}">
      <dgm:prSet/>
      <dgm:spPr/>
      <dgm:t>
        <a:bodyPr/>
        <a:lstStyle/>
        <a:p>
          <a:endParaRPr lang="en-US"/>
        </a:p>
      </dgm:t>
    </dgm:pt>
    <dgm:pt modelId="{92DAFEC0-6828-49D7-A333-827D47AFAE90}">
      <dgm:prSet/>
      <dgm:spPr>
        <a:solidFill>
          <a:srgbClr val="2596BE"/>
        </a:solidFill>
      </dgm:spPr>
      <dgm:t>
        <a:bodyPr/>
        <a:lstStyle/>
        <a:p>
          <a:r>
            <a:rPr lang="en-US" dirty="0">
              <a:latin typeface="+mj-lt"/>
            </a:rPr>
            <a:t>Create engaging repayable game</a:t>
          </a:r>
        </a:p>
      </dgm:t>
    </dgm:pt>
    <dgm:pt modelId="{04811762-4AA2-44D6-A9A7-AA6F5E0657B2}" type="parTrans" cxnId="{4EF7A40C-683A-4486-A0C8-97504A9D13B3}">
      <dgm:prSet/>
      <dgm:spPr/>
      <dgm:t>
        <a:bodyPr/>
        <a:lstStyle/>
        <a:p>
          <a:endParaRPr lang="en-US"/>
        </a:p>
      </dgm:t>
    </dgm:pt>
    <dgm:pt modelId="{976E6486-929E-44BC-8E60-D12A1AFD6400}" type="sibTrans" cxnId="{4EF7A40C-683A-4486-A0C8-97504A9D13B3}">
      <dgm:prSet/>
      <dgm:spPr/>
      <dgm:t>
        <a:bodyPr/>
        <a:lstStyle/>
        <a:p>
          <a:endParaRPr lang="en-US"/>
        </a:p>
      </dgm:t>
    </dgm:pt>
    <dgm:pt modelId="{EBD614BB-BBCB-45AA-A762-F58C98D54A93}">
      <dgm:prSet/>
      <dgm:spPr>
        <a:solidFill>
          <a:srgbClr val="2596BE"/>
        </a:solidFill>
      </dgm:spPr>
      <dgm:t>
        <a:bodyPr/>
        <a:lstStyle/>
        <a:p>
          <a:r>
            <a:rPr lang="en-US" dirty="0">
              <a:latin typeface="+mj-lt"/>
            </a:rPr>
            <a:t>To attempt to create a 3NF database</a:t>
          </a:r>
        </a:p>
      </dgm:t>
    </dgm:pt>
    <dgm:pt modelId="{4EB11C25-F91F-4F73-8993-70BA0443755A}" type="parTrans" cxnId="{B49E7326-C5C1-4DDE-AFDB-5EEF0B43BD59}">
      <dgm:prSet/>
      <dgm:spPr/>
      <dgm:t>
        <a:bodyPr/>
        <a:lstStyle/>
        <a:p>
          <a:endParaRPr lang="en-US"/>
        </a:p>
      </dgm:t>
    </dgm:pt>
    <dgm:pt modelId="{3B2980ED-B344-480A-8B96-82D13D65E067}" type="sibTrans" cxnId="{B49E7326-C5C1-4DDE-AFDB-5EEF0B43BD59}">
      <dgm:prSet/>
      <dgm:spPr/>
      <dgm:t>
        <a:bodyPr/>
        <a:lstStyle/>
        <a:p>
          <a:endParaRPr lang="en-US"/>
        </a:p>
      </dgm:t>
    </dgm:pt>
    <dgm:pt modelId="{E4E61EAD-FC58-4282-9E8C-5AAE5C552D9D}">
      <dgm:prSet/>
      <dgm:spPr>
        <a:solidFill>
          <a:srgbClr val="2596BE"/>
        </a:solidFill>
      </dgm:spPr>
      <dgm:t>
        <a:bodyPr/>
        <a:lstStyle/>
        <a:p>
          <a:r>
            <a:rPr lang="en-US" dirty="0">
              <a:latin typeface="+mj-lt"/>
            </a:rPr>
            <a:t>To reuse code when necessary</a:t>
          </a:r>
        </a:p>
      </dgm:t>
    </dgm:pt>
    <dgm:pt modelId="{76AFEEA1-B80F-4D20-A7B0-53607A1E3D2D}" type="parTrans" cxnId="{507D7042-0118-4B24-8920-7919389DB76A}">
      <dgm:prSet/>
      <dgm:spPr/>
      <dgm:t>
        <a:bodyPr/>
        <a:lstStyle/>
        <a:p>
          <a:endParaRPr lang="en-US"/>
        </a:p>
      </dgm:t>
    </dgm:pt>
    <dgm:pt modelId="{30AC3395-20F3-4BF6-A47E-7E595734C19F}" type="sibTrans" cxnId="{507D7042-0118-4B24-8920-7919389DB76A}">
      <dgm:prSet/>
      <dgm:spPr/>
      <dgm:t>
        <a:bodyPr/>
        <a:lstStyle/>
        <a:p>
          <a:endParaRPr lang="en-US"/>
        </a:p>
      </dgm:t>
    </dgm:pt>
    <dgm:pt modelId="{F3D38DE7-ADA4-4A2F-A388-035C092BB97A}">
      <dgm:prSet/>
      <dgm:spPr>
        <a:solidFill>
          <a:srgbClr val="2596BE"/>
        </a:solidFill>
      </dgm:spPr>
      <dgm:t>
        <a:bodyPr/>
        <a:lstStyle/>
        <a:p>
          <a:r>
            <a:rPr lang="en-US" dirty="0">
              <a:latin typeface="+mj-lt"/>
            </a:rPr>
            <a:t>To be able to implement necessary abstract data structures such as queues  or stack</a:t>
          </a:r>
        </a:p>
      </dgm:t>
    </dgm:pt>
    <dgm:pt modelId="{CAB13AC2-6B6E-404B-964A-29B0DF0ACEA2}" type="parTrans" cxnId="{A90BDAFF-3E6B-48E7-B327-03E9ACA9664C}">
      <dgm:prSet/>
      <dgm:spPr/>
      <dgm:t>
        <a:bodyPr/>
        <a:lstStyle/>
        <a:p>
          <a:endParaRPr lang="en-US"/>
        </a:p>
      </dgm:t>
    </dgm:pt>
    <dgm:pt modelId="{B30D8DFD-9299-4E1B-A637-536C102FD947}" type="sibTrans" cxnId="{A90BDAFF-3E6B-48E7-B327-03E9ACA9664C}">
      <dgm:prSet/>
      <dgm:spPr/>
      <dgm:t>
        <a:bodyPr/>
        <a:lstStyle/>
        <a:p>
          <a:endParaRPr lang="en-US"/>
        </a:p>
      </dgm:t>
    </dgm:pt>
    <dgm:pt modelId="{2AEB2B2F-2C19-4C07-A2AB-BD595C31D3BB}" type="pres">
      <dgm:prSet presAssocID="{A17D7905-0815-46A6-9745-2C18B54A65FA}" presName="diagram" presStyleCnt="0">
        <dgm:presLayoutVars>
          <dgm:dir/>
          <dgm:resizeHandles val="exact"/>
        </dgm:presLayoutVars>
      </dgm:prSet>
      <dgm:spPr/>
    </dgm:pt>
    <dgm:pt modelId="{518D95A1-A269-4344-BB7D-525C0FB36CE5}" type="pres">
      <dgm:prSet presAssocID="{0141242D-9126-48A8-80F0-3C8A37E0C6CE}" presName="node" presStyleLbl="node1" presStyleIdx="0" presStyleCnt="8">
        <dgm:presLayoutVars>
          <dgm:bulletEnabled val="1"/>
        </dgm:presLayoutVars>
      </dgm:prSet>
      <dgm:spPr/>
    </dgm:pt>
    <dgm:pt modelId="{A27A45AE-D883-40AC-BA87-4FB80891027A}" type="pres">
      <dgm:prSet presAssocID="{35B7837D-AB94-4647-8935-7BB6BB6B4CAC}" presName="sibTrans" presStyleCnt="0"/>
      <dgm:spPr/>
    </dgm:pt>
    <dgm:pt modelId="{7EB212D8-AF35-4252-8BEB-01E1FC7C7BB4}" type="pres">
      <dgm:prSet presAssocID="{3BDDF8EB-B3E0-4C95-9E0F-3CC3E3BEBB42}" presName="node" presStyleLbl="node1" presStyleIdx="1" presStyleCnt="8">
        <dgm:presLayoutVars>
          <dgm:bulletEnabled val="1"/>
        </dgm:presLayoutVars>
      </dgm:prSet>
      <dgm:spPr/>
    </dgm:pt>
    <dgm:pt modelId="{2400988D-D1C6-453D-A9D5-62A5820747AF}" type="pres">
      <dgm:prSet presAssocID="{A806DDA8-5450-46CF-8A53-A5BB3A3235C2}" presName="sibTrans" presStyleCnt="0"/>
      <dgm:spPr/>
    </dgm:pt>
    <dgm:pt modelId="{14CB7A14-8851-4D10-B5A4-EFC74E61DF25}" type="pres">
      <dgm:prSet presAssocID="{46B98665-2FC1-4C46-8105-FC9C783E9932}" presName="node" presStyleLbl="node1" presStyleIdx="2" presStyleCnt="8">
        <dgm:presLayoutVars>
          <dgm:bulletEnabled val="1"/>
        </dgm:presLayoutVars>
      </dgm:prSet>
      <dgm:spPr/>
    </dgm:pt>
    <dgm:pt modelId="{CE5D9290-7086-49E1-B26E-ACAF21910C88}" type="pres">
      <dgm:prSet presAssocID="{7A142ED3-F449-478F-BD0A-2AC20BD92F33}" presName="sibTrans" presStyleCnt="0"/>
      <dgm:spPr/>
    </dgm:pt>
    <dgm:pt modelId="{0967A61D-FA71-42FD-A0B8-B83B1E19A6AE}" type="pres">
      <dgm:prSet presAssocID="{420C4D07-67DD-4358-8385-111903DD392F}" presName="node" presStyleLbl="node1" presStyleIdx="3" presStyleCnt="8">
        <dgm:presLayoutVars>
          <dgm:bulletEnabled val="1"/>
        </dgm:presLayoutVars>
      </dgm:prSet>
      <dgm:spPr/>
    </dgm:pt>
    <dgm:pt modelId="{E9F8497A-0877-4363-B44A-CA0C9D24B23E}" type="pres">
      <dgm:prSet presAssocID="{1C4B7AE4-772C-4308-866E-65125F4A022F}" presName="sibTrans" presStyleCnt="0"/>
      <dgm:spPr/>
    </dgm:pt>
    <dgm:pt modelId="{B694CB1E-4373-46CE-937B-01BD129009D2}" type="pres">
      <dgm:prSet presAssocID="{92DAFEC0-6828-49D7-A333-827D47AFAE90}" presName="node" presStyleLbl="node1" presStyleIdx="4" presStyleCnt="8">
        <dgm:presLayoutVars>
          <dgm:bulletEnabled val="1"/>
        </dgm:presLayoutVars>
      </dgm:prSet>
      <dgm:spPr/>
    </dgm:pt>
    <dgm:pt modelId="{406492B9-5625-4A8E-9707-0D8BF75C827C}" type="pres">
      <dgm:prSet presAssocID="{976E6486-929E-44BC-8E60-D12A1AFD6400}" presName="sibTrans" presStyleCnt="0"/>
      <dgm:spPr/>
    </dgm:pt>
    <dgm:pt modelId="{CA773898-C667-4805-9D23-62549BD5B32F}" type="pres">
      <dgm:prSet presAssocID="{EBD614BB-BBCB-45AA-A762-F58C98D54A93}" presName="node" presStyleLbl="node1" presStyleIdx="5" presStyleCnt="8">
        <dgm:presLayoutVars>
          <dgm:bulletEnabled val="1"/>
        </dgm:presLayoutVars>
      </dgm:prSet>
      <dgm:spPr/>
    </dgm:pt>
    <dgm:pt modelId="{C6E15E67-2589-45D3-A7B2-C003575D0CEF}" type="pres">
      <dgm:prSet presAssocID="{3B2980ED-B344-480A-8B96-82D13D65E067}" presName="sibTrans" presStyleCnt="0"/>
      <dgm:spPr/>
    </dgm:pt>
    <dgm:pt modelId="{E4BDE469-A7D1-4170-93E4-E36B7EE27FCC}" type="pres">
      <dgm:prSet presAssocID="{E4E61EAD-FC58-4282-9E8C-5AAE5C552D9D}" presName="node" presStyleLbl="node1" presStyleIdx="6" presStyleCnt="8">
        <dgm:presLayoutVars>
          <dgm:bulletEnabled val="1"/>
        </dgm:presLayoutVars>
      </dgm:prSet>
      <dgm:spPr/>
    </dgm:pt>
    <dgm:pt modelId="{C08B5AAD-AFB5-4F89-87D0-B12E2B55A02B}" type="pres">
      <dgm:prSet presAssocID="{30AC3395-20F3-4BF6-A47E-7E595734C19F}" presName="sibTrans" presStyleCnt="0"/>
      <dgm:spPr/>
    </dgm:pt>
    <dgm:pt modelId="{6CC276A4-86F0-45F8-94B9-912BBD9E4E06}" type="pres">
      <dgm:prSet presAssocID="{F3D38DE7-ADA4-4A2F-A388-035C092BB97A}" presName="node" presStyleLbl="node1" presStyleIdx="7" presStyleCnt="8">
        <dgm:presLayoutVars>
          <dgm:bulletEnabled val="1"/>
        </dgm:presLayoutVars>
      </dgm:prSet>
      <dgm:spPr/>
    </dgm:pt>
  </dgm:ptLst>
  <dgm:cxnLst>
    <dgm:cxn modelId="{78F7660B-9E62-4E05-A1F0-5A4757B9F242}" srcId="{A17D7905-0815-46A6-9745-2C18B54A65FA}" destId="{420C4D07-67DD-4358-8385-111903DD392F}" srcOrd="3" destOrd="0" parTransId="{B783269A-EB55-4B41-96F3-46C021404C78}" sibTransId="{1C4B7AE4-772C-4308-866E-65125F4A022F}"/>
    <dgm:cxn modelId="{4EF7A40C-683A-4486-A0C8-97504A9D13B3}" srcId="{A17D7905-0815-46A6-9745-2C18B54A65FA}" destId="{92DAFEC0-6828-49D7-A333-827D47AFAE90}" srcOrd="4" destOrd="0" parTransId="{04811762-4AA2-44D6-A9A7-AA6F5E0657B2}" sibTransId="{976E6486-929E-44BC-8E60-D12A1AFD6400}"/>
    <dgm:cxn modelId="{73C5B70F-C630-4B19-9B1E-88492F3F41D0}" type="presOf" srcId="{420C4D07-67DD-4358-8385-111903DD392F}" destId="{0967A61D-FA71-42FD-A0B8-B83B1E19A6AE}" srcOrd="0" destOrd="0" presId="urn:microsoft.com/office/officeart/2005/8/layout/default"/>
    <dgm:cxn modelId="{881F6B1D-557E-4366-B9D9-BD74F993AD74}" type="presOf" srcId="{EBD614BB-BBCB-45AA-A762-F58C98D54A93}" destId="{CA773898-C667-4805-9D23-62549BD5B32F}" srcOrd="0" destOrd="0" presId="urn:microsoft.com/office/officeart/2005/8/layout/default"/>
    <dgm:cxn modelId="{B49E7326-C5C1-4DDE-AFDB-5EEF0B43BD59}" srcId="{A17D7905-0815-46A6-9745-2C18B54A65FA}" destId="{EBD614BB-BBCB-45AA-A762-F58C98D54A93}" srcOrd="5" destOrd="0" parTransId="{4EB11C25-F91F-4F73-8993-70BA0443755A}" sibTransId="{3B2980ED-B344-480A-8B96-82D13D65E067}"/>
    <dgm:cxn modelId="{507D7042-0118-4B24-8920-7919389DB76A}" srcId="{A17D7905-0815-46A6-9745-2C18B54A65FA}" destId="{E4E61EAD-FC58-4282-9E8C-5AAE5C552D9D}" srcOrd="6" destOrd="0" parTransId="{76AFEEA1-B80F-4D20-A7B0-53607A1E3D2D}" sibTransId="{30AC3395-20F3-4BF6-A47E-7E595734C19F}"/>
    <dgm:cxn modelId="{88A27F66-BCBE-4683-A7D8-4E018681DDBA}" type="presOf" srcId="{E4E61EAD-FC58-4282-9E8C-5AAE5C552D9D}" destId="{E4BDE469-A7D1-4170-93E4-E36B7EE27FCC}" srcOrd="0" destOrd="0" presId="urn:microsoft.com/office/officeart/2005/8/layout/default"/>
    <dgm:cxn modelId="{A98B606E-04AF-45BD-9653-7A566D688DDF}" type="presOf" srcId="{92DAFEC0-6828-49D7-A333-827D47AFAE90}" destId="{B694CB1E-4373-46CE-937B-01BD129009D2}" srcOrd="0" destOrd="0" presId="urn:microsoft.com/office/officeart/2005/8/layout/default"/>
    <dgm:cxn modelId="{282C6979-7CCB-4A74-A50B-2F658BADBC4A}" type="presOf" srcId="{F3D38DE7-ADA4-4A2F-A388-035C092BB97A}" destId="{6CC276A4-86F0-45F8-94B9-912BBD9E4E06}" srcOrd="0" destOrd="0" presId="urn:microsoft.com/office/officeart/2005/8/layout/default"/>
    <dgm:cxn modelId="{B8A17D86-F077-4C24-8F17-C8923AD3E84D}" srcId="{A17D7905-0815-46A6-9745-2C18B54A65FA}" destId="{0141242D-9126-48A8-80F0-3C8A37E0C6CE}" srcOrd="0" destOrd="0" parTransId="{88CDA2B4-912F-4518-99C0-4C6ABE498566}" sibTransId="{35B7837D-AB94-4647-8935-7BB6BB6B4CAC}"/>
    <dgm:cxn modelId="{3E5DE99D-08DE-4A47-8073-DACE0D86BCF6}" srcId="{A17D7905-0815-46A6-9745-2C18B54A65FA}" destId="{46B98665-2FC1-4C46-8105-FC9C783E9932}" srcOrd="2" destOrd="0" parTransId="{8157260C-D104-4AD0-84E1-F82328FB510E}" sibTransId="{7A142ED3-F449-478F-BD0A-2AC20BD92F33}"/>
    <dgm:cxn modelId="{0CD3D7AD-ABCF-4BF9-A6F2-D278F49C77DD}" type="presOf" srcId="{0141242D-9126-48A8-80F0-3C8A37E0C6CE}" destId="{518D95A1-A269-4344-BB7D-525C0FB36CE5}" srcOrd="0" destOrd="0" presId="urn:microsoft.com/office/officeart/2005/8/layout/default"/>
    <dgm:cxn modelId="{5E9E2CBA-AA50-4459-A024-A63965915B01}" type="presOf" srcId="{3BDDF8EB-B3E0-4C95-9E0F-3CC3E3BEBB42}" destId="{7EB212D8-AF35-4252-8BEB-01E1FC7C7BB4}" srcOrd="0" destOrd="0" presId="urn:microsoft.com/office/officeart/2005/8/layout/default"/>
    <dgm:cxn modelId="{68C802D0-1DCF-4D83-8A1F-FECE5D9EAD60}" srcId="{A17D7905-0815-46A6-9745-2C18B54A65FA}" destId="{3BDDF8EB-B3E0-4C95-9E0F-3CC3E3BEBB42}" srcOrd="1" destOrd="0" parTransId="{F82FDF24-8D0D-4793-9D4C-635ACFA96977}" sibTransId="{A806DDA8-5450-46CF-8A53-A5BB3A3235C2}"/>
    <dgm:cxn modelId="{AAF9B1DA-AB70-4FF4-888D-D729C38F3778}" type="presOf" srcId="{46B98665-2FC1-4C46-8105-FC9C783E9932}" destId="{14CB7A14-8851-4D10-B5A4-EFC74E61DF25}" srcOrd="0" destOrd="0" presId="urn:microsoft.com/office/officeart/2005/8/layout/default"/>
    <dgm:cxn modelId="{C34D36F0-557A-47B7-8D8B-CA51AA4455A2}" type="presOf" srcId="{A17D7905-0815-46A6-9745-2C18B54A65FA}" destId="{2AEB2B2F-2C19-4C07-A2AB-BD595C31D3BB}" srcOrd="0" destOrd="0" presId="urn:microsoft.com/office/officeart/2005/8/layout/default"/>
    <dgm:cxn modelId="{A90BDAFF-3E6B-48E7-B327-03E9ACA9664C}" srcId="{A17D7905-0815-46A6-9745-2C18B54A65FA}" destId="{F3D38DE7-ADA4-4A2F-A388-035C092BB97A}" srcOrd="7" destOrd="0" parTransId="{CAB13AC2-6B6E-404B-964A-29B0DF0ACEA2}" sibTransId="{B30D8DFD-9299-4E1B-A637-536C102FD947}"/>
    <dgm:cxn modelId="{AC0EB5FA-7B6D-4E9E-9CC2-539D7304563F}" type="presParOf" srcId="{2AEB2B2F-2C19-4C07-A2AB-BD595C31D3BB}" destId="{518D95A1-A269-4344-BB7D-525C0FB36CE5}" srcOrd="0" destOrd="0" presId="urn:microsoft.com/office/officeart/2005/8/layout/default"/>
    <dgm:cxn modelId="{1A5DBAD2-9A02-4F89-A143-BFED697588AB}" type="presParOf" srcId="{2AEB2B2F-2C19-4C07-A2AB-BD595C31D3BB}" destId="{A27A45AE-D883-40AC-BA87-4FB80891027A}" srcOrd="1" destOrd="0" presId="urn:microsoft.com/office/officeart/2005/8/layout/default"/>
    <dgm:cxn modelId="{90EFAE24-84EC-4D17-A12F-DC6CF3A5CA2C}" type="presParOf" srcId="{2AEB2B2F-2C19-4C07-A2AB-BD595C31D3BB}" destId="{7EB212D8-AF35-4252-8BEB-01E1FC7C7BB4}" srcOrd="2" destOrd="0" presId="urn:microsoft.com/office/officeart/2005/8/layout/default"/>
    <dgm:cxn modelId="{C1407B52-3369-467F-985C-731BFCFE67C3}" type="presParOf" srcId="{2AEB2B2F-2C19-4C07-A2AB-BD595C31D3BB}" destId="{2400988D-D1C6-453D-A9D5-62A5820747AF}" srcOrd="3" destOrd="0" presId="urn:microsoft.com/office/officeart/2005/8/layout/default"/>
    <dgm:cxn modelId="{96C4721F-CD79-4FB4-87AD-D13FE45F6318}" type="presParOf" srcId="{2AEB2B2F-2C19-4C07-A2AB-BD595C31D3BB}" destId="{14CB7A14-8851-4D10-B5A4-EFC74E61DF25}" srcOrd="4" destOrd="0" presId="urn:microsoft.com/office/officeart/2005/8/layout/default"/>
    <dgm:cxn modelId="{604CAC56-80D0-428D-A5B9-DAD68EA30964}" type="presParOf" srcId="{2AEB2B2F-2C19-4C07-A2AB-BD595C31D3BB}" destId="{CE5D9290-7086-49E1-B26E-ACAF21910C88}" srcOrd="5" destOrd="0" presId="urn:microsoft.com/office/officeart/2005/8/layout/default"/>
    <dgm:cxn modelId="{02759F6C-EBE6-4CC0-B3E5-86B7084DCE31}" type="presParOf" srcId="{2AEB2B2F-2C19-4C07-A2AB-BD595C31D3BB}" destId="{0967A61D-FA71-42FD-A0B8-B83B1E19A6AE}" srcOrd="6" destOrd="0" presId="urn:microsoft.com/office/officeart/2005/8/layout/default"/>
    <dgm:cxn modelId="{C400BF25-F7D0-4407-8434-F4DE7B321422}" type="presParOf" srcId="{2AEB2B2F-2C19-4C07-A2AB-BD595C31D3BB}" destId="{E9F8497A-0877-4363-B44A-CA0C9D24B23E}" srcOrd="7" destOrd="0" presId="urn:microsoft.com/office/officeart/2005/8/layout/default"/>
    <dgm:cxn modelId="{EA637C2F-CE65-436B-8074-02E227ABA5C6}" type="presParOf" srcId="{2AEB2B2F-2C19-4C07-A2AB-BD595C31D3BB}" destId="{B694CB1E-4373-46CE-937B-01BD129009D2}" srcOrd="8" destOrd="0" presId="urn:microsoft.com/office/officeart/2005/8/layout/default"/>
    <dgm:cxn modelId="{27997771-ED0E-41E3-B8E2-591700B0046D}" type="presParOf" srcId="{2AEB2B2F-2C19-4C07-A2AB-BD595C31D3BB}" destId="{406492B9-5625-4A8E-9707-0D8BF75C827C}" srcOrd="9" destOrd="0" presId="urn:microsoft.com/office/officeart/2005/8/layout/default"/>
    <dgm:cxn modelId="{3CF68CFD-85B7-4742-9187-9245ACE37D1C}" type="presParOf" srcId="{2AEB2B2F-2C19-4C07-A2AB-BD595C31D3BB}" destId="{CA773898-C667-4805-9D23-62549BD5B32F}" srcOrd="10" destOrd="0" presId="urn:microsoft.com/office/officeart/2005/8/layout/default"/>
    <dgm:cxn modelId="{8913835A-9081-4CC4-9185-7B0F67357FAF}" type="presParOf" srcId="{2AEB2B2F-2C19-4C07-A2AB-BD595C31D3BB}" destId="{C6E15E67-2589-45D3-A7B2-C003575D0CEF}" srcOrd="11" destOrd="0" presId="urn:microsoft.com/office/officeart/2005/8/layout/default"/>
    <dgm:cxn modelId="{920F9319-3804-43AD-A1CD-2EEEAC1F7EA7}" type="presParOf" srcId="{2AEB2B2F-2C19-4C07-A2AB-BD595C31D3BB}" destId="{E4BDE469-A7D1-4170-93E4-E36B7EE27FCC}" srcOrd="12" destOrd="0" presId="urn:microsoft.com/office/officeart/2005/8/layout/default"/>
    <dgm:cxn modelId="{9BA4CFFB-E41D-4225-8EB7-C7CDE4B593F1}" type="presParOf" srcId="{2AEB2B2F-2C19-4C07-A2AB-BD595C31D3BB}" destId="{C08B5AAD-AFB5-4F89-87D0-B12E2B55A02B}" srcOrd="13" destOrd="0" presId="urn:microsoft.com/office/officeart/2005/8/layout/default"/>
    <dgm:cxn modelId="{B659DCA2-4119-46CD-9381-51212CFFF21C}" type="presParOf" srcId="{2AEB2B2F-2C19-4C07-A2AB-BD595C31D3BB}" destId="{6CC276A4-86F0-45F8-94B9-912BBD9E4E06}"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8D95A1-A269-4344-BB7D-525C0FB36CE5}">
      <dsp:nvSpPr>
        <dsp:cNvPr id="0" name=""/>
        <dsp:cNvSpPr/>
      </dsp:nvSpPr>
      <dsp:spPr>
        <a:xfrm>
          <a:off x="0" y="54292"/>
          <a:ext cx="1911667" cy="1147000"/>
        </a:xfrm>
        <a:prstGeom prst="rect">
          <a:avLst/>
        </a:prstGeom>
        <a:solidFill>
          <a:srgbClr val="2596B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latin typeface="+mj-lt"/>
            </a:rPr>
            <a:t>To be able use OOP to create object, to interact with each other</a:t>
          </a:r>
        </a:p>
      </dsp:txBody>
      <dsp:txXfrm>
        <a:off x="0" y="54292"/>
        <a:ext cx="1911667" cy="1147000"/>
      </dsp:txXfrm>
    </dsp:sp>
    <dsp:sp modelId="{7EB212D8-AF35-4252-8BEB-01E1FC7C7BB4}">
      <dsp:nvSpPr>
        <dsp:cNvPr id="0" name=""/>
        <dsp:cNvSpPr/>
      </dsp:nvSpPr>
      <dsp:spPr>
        <a:xfrm>
          <a:off x="2102834" y="54292"/>
          <a:ext cx="1911667" cy="1147000"/>
        </a:xfrm>
        <a:prstGeom prst="rect">
          <a:avLst/>
        </a:prstGeom>
        <a:solidFill>
          <a:srgbClr val="2596B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latin typeface="+mj-lt"/>
            </a:rPr>
            <a:t>To add all mentioned features into a working build</a:t>
          </a:r>
        </a:p>
      </dsp:txBody>
      <dsp:txXfrm>
        <a:off x="2102834" y="54292"/>
        <a:ext cx="1911667" cy="1147000"/>
      </dsp:txXfrm>
    </dsp:sp>
    <dsp:sp modelId="{14CB7A14-8851-4D10-B5A4-EFC74E61DF25}">
      <dsp:nvSpPr>
        <dsp:cNvPr id="0" name=""/>
        <dsp:cNvSpPr/>
      </dsp:nvSpPr>
      <dsp:spPr>
        <a:xfrm>
          <a:off x="4205668" y="54292"/>
          <a:ext cx="1911667" cy="1147000"/>
        </a:xfrm>
        <a:prstGeom prst="rect">
          <a:avLst/>
        </a:prstGeom>
        <a:solidFill>
          <a:srgbClr val="2596B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latin typeface="+mj-lt"/>
            </a:rPr>
            <a:t>To write clear and easy to read code</a:t>
          </a:r>
        </a:p>
      </dsp:txBody>
      <dsp:txXfrm>
        <a:off x="4205668" y="54292"/>
        <a:ext cx="1911667" cy="1147000"/>
      </dsp:txXfrm>
    </dsp:sp>
    <dsp:sp modelId="{0967A61D-FA71-42FD-A0B8-B83B1E19A6AE}">
      <dsp:nvSpPr>
        <dsp:cNvPr id="0" name=""/>
        <dsp:cNvSpPr/>
      </dsp:nvSpPr>
      <dsp:spPr>
        <a:xfrm>
          <a:off x="0" y="1392459"/>
          <a:ext cx="1911667" cy="1147000"/>
        </a:xfrm>
        <a:prstGeom prst="rect">
          <a:avLst/>
        </a:prstGeom>
        <a:solidFill>
          <a:srgbClr val="2596B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latin typeface="+mj-lt"/>
            </a:rPr>
            <a:t>To try to get most performance out of using an interpreter language with game engine that more software dependent</a:t>
          </a:r>
        </a:p>
      </dsp:txBody>
      <dsp:txXfrm>
        <a:off x="0" y="1392459"/>
        <a:ext cx="1911667" cy="1147000"/>
      </dsp:txXfrm>
    </dsp:sp>
    <dsp:sp modelId="{B694CB1E-4373-46CE-937B-01BD129009D2}">
      <dsp:nvSpPr>
        <dsp:cNvPr id="0" name=""/>
        <dsp:cNvSpPr/>
      </dsp:nvSpPr>
      <dsp:spPr>
        <a:xfrm>
          <a:off x="2102834" y="1392459"/>
          <a:ext cx="1911667" cy="1147000"/>
        </a:xfrm>
        <a:prstGeom prst="rect">
          <a:avLst/>
        </a:prstGeom>
        <a:solidFill>
          <a:srgbClr val="2596B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latin typeface="+mj-lt"/>
            </a:rPr>
            <a:t>Create engaging repayable game</a:t>
          </a:r>
        </a:p>
      </dsp:txBody>
      <dsp:txXfrm>
        <a:off x="2102834" y="1392459"/>
        <a:ext cx="1911667" cy="1147000"/>
      </dsp:txXfrm>
    </dsp:sp>
    <dsp:sp modelId="{CA773898-C667-4805-9D23-62549BD5B32F}">
      <dsp:nvSpPr>
        <dsp:cNvPr id="0" name=""/>
        <dsp:cNvSpPr/>
      </dsp:nvSpPr>
      <dsp:spPr>
        <a:xfrm>
          <a:off x="4205668" y="1392459"/>
          <a:ext cx="1911667" cy="1147000"/>
        </a:xfrm>
        <a:prstGeom prst="rect">
          <a:avLst/>
        </a:prstGeom>
        <a:solidFill>
          <a:srgbClr val="2596B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latin typeface="+mj-lt"/>
            </a:rPr>
            <a:t>To attempt to create a 3NF database</a:t>
          </a:r>
        </a:p>
      </dsp:txBody>
      <dsp:txXfrm>
        <a:off x="4205668" y="1392459"/>
        <a:ext cx="1911667" cy="1147000"/>
      </dsp:txXfrm>
    </dsp:sp>
    <dsp:sp modelId="{E4BDE469-A7D1-4170-93E4-E36B7EE27FCC}">
      <dsp:nvSpPr>
        <dsp:cNvPr id="0" name=""/>
        <dsp:cNvSpPr/>
      </dsp:nvSpPr>
      <dsp:spPr>
        <a:xfrm>
          <a:off x="1051417" y="2730627"/>
          <a:ext cx="1911667" cy="1147000"/>
        </a:xfrm>
        <a:prstGeom prst="rect">
          <a:avLst/>
        </a:prstGeom>
        <a:solidFill>
          <a:srgbClr val="2596B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latin typeface="+mj-lt"/>
            </a:rPr>
            <a:t>To reuse code when necessary</a:t>
          </a:r>
        </a:p>
      </dsp:txBody>
      <dsp:txXfrm>
        <a:off x="1051417" y="2730627"/>
        <a:ext cx="1911667" cy="1147000"/>
      </dsp:txXfrm>
    </dsp:sp>
    <dsp:sp modelId="{6CC276A4-86F0-45F8-94B9-912BBD9E4E06}">
      <dsp:nvSpPr>
        <dsp:cNvPr id="0" name=""/>
        <dsp:cNvSpPr/>
      </dsp:nvSpPr>
      <dsp:spPr>
        <a:xfrm>
          <a:off x="3154251" y="2730627"/>
          <a:ext cx="1911667" cy="1147000"/>
        </a:xfrm>
        <a:prstGeom prst="rect">
          <a:avLst/>
        </a:prstGeom>
        <a:solidFill>
          <a:srgbClr val="2596B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latin typeface="+mj-lt"/>
            </a:rPr>
            <a:t>To be able to implement necessary abstract data structures such as queues  or stack</a:t>
          </a:r>
        </a:p>
      </dsp:txBody>
      <dsp:txXfrm>
        <a:off x="3154251" y="2730627"/>
        <a:ext cx="1911667" cy="114700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7T11:09:06.648"/>
    </inkml:context>
    <inkml:brush xml:id="br0">
      <inkml:brushProperty name="width" value="0.05" units="cm"/>
      <inkml:brushProperty name="height" value="0.05" units="cm"/>
      <inkml:brushProperty name="color" value="#AE198D"/>
      <inkml:brushProperty name="inkEffects" value="galaxy"/>
      <inkml:brushProperty name="anchorX" value="-5114.09766"/>
      <inkml:brushProperty name="anchorY" value="-2856.95508"/>
      <inkml:brushProperty name="scaleFactor" value="0.5"/>
    </inkml:brush>
  </inkml:definitions>
  <inkml:trace contextRef="#ctx0" brushRef="#br0">1 0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7T11:06:12.493"/>
    </inkml:context>
    <inkml:brush xml:id="br0">
      <inkml:brushProperty name="width" value="0.05" units="cm"/>
      <inkml:brushProperty name="height" value="0.05" units="cm"/>
      <inkml:brushProperty name="color" value="#AE198D"/>
      <inkml:brushProperty name="inkEffects" value="galaxy"/>
      <inkml:brushProperty name="anchorX" value="-3844.09766"/>
      <inkml:brushProperty name="anchorY" value="-1586.95496"/>
      <inkml:brushProperty name="scaleFactor" value="0.5"/>
    </inkml:brush>
  </inkml:definitions>
  <inkml:trace contextRef="#ctx0" brushRef="#br0">1 1 24575,'0'0'0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BBCD4F60-3B00-4DB4-90A4-67F8107A0900}" type="datetime1">
              <a:rPr lang="en-US" smtClean="0"/>
              <a:t>2/7/2024</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09851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626DE685-1B6F-4D7C-AEF2-C9AD71EC467A}" type="datetime1">
              <a:rPr lang="en-US" smtClean="0"/>
              <a:t>2/7/2024</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27391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6E20BAB-D1DB-4DC1-908A-9B5E73715905}" type="datetime1">
              <a:rPr lang="en-US" smtClean="0"/>
              <a:t>2/7/2024</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457819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82D2DD5A-C337-4F22-BED0-547AFC68CFD6}" type="datetime1">
              <a:rPr lang="en-US" smtClean="0"/>
              <a:t>2/7/2024</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06595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FA38DFBF-4DB8-447F-A740-22B1B0F7DDD8}" type="datetime1">
              <a:rPr lang="en-US" smtClean="0"/>
              <a:t>2/7/2024</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830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8812435-B87A-4434-B86A-1406D5D81959}" type="datetime1">
              <a:rPr lang="en-US" smtClean="0"/>
              <a:t>2/7/2024</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42747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3B850E0-9242-469C-9FA7-447D7E43FF29}" type="datetime1">
              <a:rPr lang="en-US" smtClean="0"/>
              <a:t>2/7/2024</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676801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CA9184C1-634B-4D2F-90E1-C39B48114444}" type="datetime1">
              <a:rPr lang="en-US" smtClean="0"/>
              <a:t>2/7/2024</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23632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602A4FC1-9CCD-4E4B-AB4D-5CAEC19C950B}" type="datetime1">
              <a:rPr lang="en-US" smtClean="0"/>
              <a:t>2/7/2024</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61684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5C12018-AE0B-45B3-8833-1C61B747ADFD}" type="datetime1">
              <a:rPr lang="en-US" smtClean="0"/>
              <a:t>2/7/2024</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78046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BC874D72-DF44-407D-AEE5-0273DD00D922}" type="datetime1">
              <a:rPr lang="en-US" smtClean="0"/>
              <a:t>2/7/2024</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27229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22096"/>
            <a:ext cx="10691265" cy="137103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93126"/>
            <a:ext cx="10691265" cy="363608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fld id="{FBA78304-8938-479D-8111-AA943458A814}" type="datetime1">
              <a:rPr lang="en-US" smtClean="0"/>
              <a:t>2/7/2024</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r>
              <a:rPr lang="en-US"/>
              <a:t>Sample Footer Text</a:t>
            </a:r>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3387955"/>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hf hdr="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customXml" Target="../ink/ink1.xml"/><Relationship Id="rId7"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ags" Target="../tags/tag1.xml"/><Relationship Id="rId6" Type="http://schemas.openxmlformats.org/officeDocument/2006/relationships/image" Target="../media/image2.png"/><Relationship Id="rId5" Type="http://schemas.openxmlformats.org/officeDocument/2006/relationships/customXml" Target="../ink/ink2.xml"/><Relationship Id="rId10" Type="http://schemas.openxmlformats.org/officeDocument/2006/relationships/image" Target="../media/image6.png"/><Relationship Id="rId4" Type="http://schemas.openxmlformats.org/officeDocument/2006/relationships/image" Target="../media/image1.png"/><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2.xml"/><Relationship Id="rId5" Type="http://schemas.openxmlformats.org/officeDocument/2006/relationships/image" Target="../media/image7.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4.jpe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56196C1-2F1B-9516-5101-A732440D87A5}"/>
              </a:ext>
            </a:extLst>
          </p:cNvPr>
          <p:cNvSpPr>
            <a:spLocks noGrp="1"/>
          </p:cNvSpPr>
          <p:nvPr>
            <p:ph type="ctrTitle"/>
          </p:nvPr>
        </p:nvSpPr>
        <p:spPr>
          <a:xfrm>
            <a:off x="703400" y="908651"/>
            <a:ext cx="3620882" cy="2881924"/>
          </a:xfrm>
        </p:spPr>
        <p:txBody>
          <a:bodyPr anchor="t">
            <a:normAutofit/>
          </a:bodyPr>
          <a:lstStyle/>
          <a:p>
            <a:r>
              <a:rPr lang="en-GB" sz="4000" dirty="0">
                <a:latin typeface="Retro Gaming" panose="00000400000000000000" pitchFamily="2" charset="0"/>
              </a:rPr>
              <a:t>Erol Halim Presents:  </a:t>
            </a:r>
          </a:p>
        </p:txBody>
      </p:sp>
      <mc:AlternateContent xmlns:mc="http://schemas.openxmlformats.org/markup-compatibility/2006">
        <mc:Choice xmlns:p14="http://schemas.microsoft.com/office/powerpoint/2010/main" xmlns:aink="http://schemas.microsoft.com/office/drawing/2016/ink" Requires="p14 aink">
          <p:contentPart p14:bwMode="auto" r:id="rId3">
            <p14:nvContentPartPr>
              <p14:cNvPr id="6" name="Ink 5">
                <a:extLst>
                  <a:ext uri="{FF2B5EF4-FFF2-40B4-BE49-F238E27FC236}">
                    <a16:creationId xmlns:a16="http://schemas.microsoft.com/office/drawing/2014/main" id="{32B7A21F-3F02-3504-7C74-11F4F6C834FF}"/>
                  </a:ext>
                </a:extLst>
              </p14:cNvPr>
              <p14:cNvContentPartPr/>
              <p14:nvPr/>
            </p14:nvContentPartPr>
            <p14:xfrm>
              <a:off x="5800350" y="3790575"/>
              <a:ext cx="360" cy="360"/>
            </p14:xfrm>
          </p:contentPart>
        </mc:Choice>
        <mc:Fallback>
          <p:pic>
            <p:nvPicPr>
              <p:cNvPr id="6" name="Ink 5">
                <a:extLst>
                  <a:ext uri="{FF2B5EF4-FFF2-40B4-BE49-F238E27FC236}">
                    <a16:creationId xmlns:a16="http://schemas.microsoft.com/office/drawing/2014/main" id="{32B7A21F-3F02-3504-7C74-11F4F6C834FF}"/>
                  </a:ext>
                </a:extLst>
              </p:cNvPr>
              <p:cNvPicPr/>
              <p:nvPr/>
            </p:nvPicPr>
            <p:blipFill>
              <a:blip r:embed="rId4"/>
              <a:stretch>
                <a:fillRect/>
              </a:stretch>
            </p:blipFill>
            <p:spPr>
              <a:xfrm>
                <a:off x="5791350" y="3781575"/>
                <a:ext cx="18000" cy="18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5">
            <p14:nvContentPartPr>
              <p14:cNvPr id="5" name="Ink 4">
                <a:extLst>
                  <a:ext uri="{FF2B5EF4-FFF2-40B4-BE49-F238E27FC236}">
                    <a16:creationId xmlns:a16="http://schemas.microsoft.com/office/drawing/2014/main" id="{215873EA-6931-ABD2-542B-2CBD6B415CE9}"/>
                  </a:ext>
                </a:extLst>
              </p14:cNvPr>
              <p14:cNvContentPartPr/>
              <p14:nvPr/>
            </p14:nvContentPartPr>
            <p14:xfrm>
              <a:off x="10729602" y="-494736"/>
              <a:ext cx="360" cy="360"/>
            </p14:xfrm>
          </p:contentPart>
        </mc:Choice>
        <mc:Fallback>
          <p:pic>
            <p:nvPicPr>
              <p:cNvPr id="5" name="Ink 4">
                <a:extLst>
                  <a:ext uri="{FF2B5EF4-FFF2-40B4-BE49-F238E27FC236}">
                    <a16:creationId xmlns:a16="http://schemas.microsoft.com/office/drawing/2014/main" id="{215873EA-6931-ABD2-542B-2CBD6B415CE9}"/>
                  </a:ext>
                </a:extLst>
              </p:cNvPr>
              <p:cNvPicPr/>
              <p:nvPr/>
            </p:nvPicPr>
            <p:blipFill>
              <a:blip r:embed="rId6"/>
              <a:stretch>
                <a:fillRect/>
              </a:stretch>
            </p:blipFill>
            <p:spPr>
              <a:xfrm>
                <a:off x="10720602" y="-503736"/>
                <a:ext cx="18000" cy="18000"/>
              </a:xfrm>
              <a:prstGeom prst="rect">
                <a:avLst/>
              </a:prstGeom>
            </p:spPr>
          </p:pic>
        </mc:Fallback>
      </mc:AlternateContent>
      <p:pic>
        <p:nvPicPr>
          <p:cNvPr id="4" name="Picture 3">
            <a:extLst>
              <a:ext uri="{FF2B5EF4-FFF2-40B4-BE49-F238E27FC236}">
                <a16:creationId xmlns:a16="http://schemas.microsoft.com/office/drawing/2014/main" id="{BAD950CA-03CB-1194-1F6B-F1D83B0AC1C8}"/>
              </a:ext>
            </a:extLst>
          </p:cNvPr>
          <p:cNvPicPr>
            <a:picLocks noChangeAspect="1"/>
          </p:cNvPicPr>
          <p:nvPr/>
        </p:nvPicPr>
        <p:blipFill>
          <a:blip r:embed="rId7">
            <a:extLst>
              <a:ext uri="{28A0092B-C50C-407E-A947-70E740481C1C}">
                <a14:useLocalDpi xmlns:a14="http://schemas.microsoft.com/office/drawing/2010/main" val="0"/>
              </a:ext>
            </a:extLst>
          </a:blip>
          <a:srcRect l="20012" r="20012"/>
          <a:stretch/>
        </p:blipFill>
        <p:spPr>
          <a:xfrm>
            <a:off x="4876159" y="-3337"/>
            <a:ext cx="7315841" cy="6857990"/>
          </a:xfrm>
          <a:prstGeom prst="rect">
            <a:avLst/>
          </a:prstGeom>
        </p:spPr>
      </p:pic>
      <p:pic>
        <p:nvPicPr>
          <p:cNvPr id="10" name="Picture 9" descr="A blue and orange sign">
            <a:extLst>
              <a:ext uri="{FF2B5EF4-FFF2-40B4-BE49-F238E27FC236}">
                <a16:creationId xmlns:a16="http://schemas.microsoft.com/office/drawing/2014/main" id="{65BE1BE2-C3E1-91E0-622E-4D8AC8936CA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802977" y="1340138"/>
            <a:ext cx="3462202" cy="2088862"/>
          </a:xfrm>
          <a:prstGeom prst="rect">
            <a:avLst/>
          </a:prstGeom>
        </p:spPr>
      </p:pic>
      <p:sp>
        <p:nvSpPr>
          <p:cNvPr id="3" name="Subtitle 2">
            <a:extLst>
              <a:ext uri="{FF2B5EF4-FFF2-40B4-BE49-F238E27FC236}">
                <a16:creationId xmlns:a16="http://schemas.microsoft.com/office/drawing/2014/main" id="{A78914E9-1379-D52B-EB81-34C08F6F1540}"/>
              </a:ext>
            </a:extLst>
          </p:cNvPr>
          <p:cNvSpPr>
            <a:spLocks noGrp="1"/>
          </p:cNvSpPr>
          <p:nvPr>
            <p:ph type="subTitle" idx="1"/>
          </p:nvPr>
        </p:nvSpPr>
        <p:spPr>
          <a:xfrm>
            <a:off x="6894554" y="595795"/>
            <a:ext cx="3380437" cy="845487"/>
          </a:xfrm>
        </p:spPr>
        <p:txBody>
          <a:bodyPr anchor="b">
            <a:normAutofit/>
          </a:bodyPr>
          <a:lstStyle/>
          <a:p>
            <a:r>
              <a:rPr lang="en-GB" sz="1800" dirty="0">
                <a:latin typeface="Retro Gaming" panose="00000400000000000000" pitchFamily="2" charset="0"/>
              </a:rPr>
              <a:t>2D ARCADE GOLF GAME</a:t>
            </a:r>
          </a:p>
        </p:txBody>
      </p:sp>
      <p:pic>
        <p:nvPicPr>
          <p:cNvPr id="14" name="Picture 13" descr="A blue and black cloud">
            <a:extLst>
              <a:ext uri="{FF2B5EF4-FFF2-40B4-BE49-F238E27FC236}">
                <a16:creationId xmlns:a16="http://schemas.microsoft.com/office/drawing/2014/main" id="{ED0EA59E-9995-60A8-5D1E-B0ADC955F7E4}"/>
              </a:ext>
            </a:extLst>
          </p:cNvPr>
          <p:cNvPicPr>
            <a:picLocks noChangeAspect="1"/>
          </p:cNvPicPr>
          <p:nvPr/>
        </p:nvPicPr>
        <p:blipFill rotWithShape="1">
          <a:blip r:embed="rId9">
            <a:extLst>
              <a:ext uri="{28A0092B-C50C-407E-A947-70E740481C1C}">
                <a14:useLocalDpi xmlns:a14="http://schemas.microsoft.com/office/drawing/2010/main" val="0"/>
              </a:ext>
            </a:extLst>
          </a:blip>
          <a:srcRect r="37124" b="1155"/>
          <a:stretch/>
        </p:blipFill>
        <p:spPr>
          <a:xfrm>
            <a:off x="4876157" y="3347"/>
            <a:ext cx="7315841" cy="6854653"/>
          </a:xfrm>
          <a:prstGeom prst="rect">
            <a:avLst/>
          </a:prstGeom>
        </p:spPr>
      </p:pic>
      <p:pic>
        <p:nvPicPr>
          <p:cNvPr id="17" name="Picture 16" descr="A cloud of smoke in the sky&#10;&#10;Description automatically generated">
            <a:extLst>
              <a:ext uri="{FF2B5EF4-FFF2-40B4-BE49-F238E27FC236}">
                <a16:creationId xmlns:a16="http://schemas.microsoft.com/office/drawing/2014/main" id="{30CBFF2B-CCFF-B76E-A3BB-CF20F3D5AE03}"/>
              </a:ext>
            </a:extLst>
          </p:cNvPr>
          <p:cNvPicPr>
            <a:picLocks noChangeAspect="1"/>
          </p:cNvPicPr>
          <p:nvPr/>
        </p:nvPicPr>
        <p:blipFill rotWithShape="1">
          <a:blip r:embed="rId10">
            <a:extLst>
              <a:ext uri="{28A0092B-C50C-407E-A947-70E740481C1C}">
                <a14:useLocalDpi xmlns:a14="http://schemas.microsoft.com/office/drawing/2010/main" val="0"/>
              </a:ext>
            </a:extLst>
          </a:blip>
          <a:srcRect r="39995"/>
          <a:stretch/>
        </p:blipFill>
        <p:spPr>
          <a:xfrm>
            <a:off x="4876155" y="6684"/>
            <a:ext cx="7315843" cy="6854653"/>
          </a:xfrm>
          <a:prstGeom prst="rect">
            <a:avLst/>
          </a:prstGeom>
        </p:spPr>
      </p:pic>
    </p:spTree>
    <p:custDataLst>
      <p:tags r:id="rId1"/>
    </p:custDataLst>
    <p:extLst>
      <p:ext uri="{BB962C8B-B14F-4D97-AF65-F5344CB8AC3E}">
        <p14:creationId xmlns:p14="http://schemas.microsoft.com/office/powerpoint/2010/main" val="1395530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0.01419 -0.01597 L -0.36367 -0.01597 " pathEditMode="relative" rAng="0" ptsTypes="AA">
                                      <p:cBhvr>
                                        <p:cTn id="6" dur="2000" spd="-100000" fill="hold"/>
                                        <p:tgtEl>
                                          <p:spTgt spid="2"/>
                                        </p:tgtEl>
                                        <p:attrNameLst>
                                          <p:attrName>ppt_x</p:attrName>
                                          <p:attrName>ppt_y</p:attrName>
                                        </p:attrNameLst>
                                      </p:cBhvr>
                                      <p:rCtr x="-17474" y="0"/>
                                    </p:animMotion>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32E56B-CEC9-6297-D67D-809898ABDF3C}"/>
              </a:ext>
            </a:extLst>
          </p:cNvPr>
          <p:cNvSpPr>
            <a:spLocks noGrp="1"/>
          </p:cNvSpPr>
          <p:nvPr>
            <p:ph type="sldNum" sz="quarter" idx="12"/>
          </p:nvPr>
        </p:nvSpPr>
        <p:spPr/>
        <p:txBody>
          <a:bodyPr/>
          <a:lstStyle/>
          <a:p>
            <a:fld id="{87E7843D-FF13-4365-9478-9625B70A2705}" type="slidenum">
              <a:rPr lang="en-US" smtClean="0"/>
              <a:t>2</a:t>
            </a:fld>
            <a:endParaRPr lang="en-US" dirty="0"/>
          </a:p>
        </p:txBody>
      </p:sp>
      <p:pic>
        <p:nvPicPr>
          <p:cNvPr id="6" name="Picture 5" descr="A blue background with white lines&#10;&#10;Description automatically generated">
            <a:extLst>
              <a:ext uri="{FF2B5EF4-FFF2-40B4-BE49-F238E27FC236}">
                <a16:creationId xmlns:a16="http://schemas.microsoft.com/office/drawing/2014/main" id="{051B2E1F-A010-5554-D055-08D79E31C2E8}"/>
              </a:ext>
            </a:extLst>
          </p:cNvPr>
          <p:cNvPicPr>
            <a:picLocks noChangeAspect="1"/>
          </p:cNvPicPr>
          <p:nvPr/>
        </p:nvPicPr>
        <p:blipFill rotWithShape="1">
          <a:blip r:embed="rId3">
            <a:extLst>
              <a:ext uri="{28A0092B-C50C-407E-A947-70E740481C1C}">
                <a14:useLocalDpi xmlns:a14="http://schemas.microsoft.com/office/drawing/2010/main" val="0"/>
              </a:ext>
            </a:extLst>
          </a:blip>
          <a:srcRect t="19047"/>
          <a:stretch/>
        </p:blipFill>
        <p:spPr>
          <a:xfrm>
            <a:off x="0" y="1212915"/>
            <a:ext cx="12192000" cy="5549026"/>
          </a:xfrm>
          <a:prstGeom prst="rect">
            <a:avLst/>
          </a:prstGeom>
        </p:spPr>
      </p:pic>
      <p:pic>
        <p:nvPicPr>
          <p:cNvPr id="8" name="Picture 7" descr="A blue and black cloud&#10;&#10;Description automatically generated">
            <a:extLst>
              <a:ext uri="{FF2B5EF4-FFF2-40B4-BE49-F238E27FC236}">
                <a16:creationId xmlns:a16="http://schemas.microsoft.com/office/drawing/2014/main" id="{F17A1A3F-7408-4FA5-7846-89E8F8C5902C}"/>
              </a:ext>
            </a:extLst>
          </p:cNvPr>
          <p:cNvPicPr>
            <a:picLocks noChangeAspect="1"/>
          </p:cNvPicPr>
          <p:nvPr/>
        </p:nvPicPr>
        <p:blipFill rotWithShape="1">
          <a:blip r:embed="rId4">
            <a:extLst>
              <a:ext uri="{28A0092B-C50C-407E-A947-70E740481C1C}">
                <a14:useLocalDpi xmlns:a14="http://schemas.microsoft.com/office/drawing/2010/main" val="0"/>
              </a:ext>
            </a:extLst>
          </a:blip>
          <a:srcRect t="17694"/>
          <a:stretch/>
        </p:blipFill>
        <p:spPr>
          <a:xfrm>
            <a:off x="0" y="1212915"/>
            <a:ext cx="12192000" cy="5641738"/>
          </a:xfrm>
          <a:prstGeom prst="rect">
            <a:avLst/>
          </a:prstGeom>
        </p:spPr>
      </p:pic>
      <p:sp>
        <p:nvSpPr>
          <p:cNvPr id="3" name="Footer Placeholder 2">
            <a:extLst>
              <a:ext uri="{FF2B5EF4-FFF2-40B4-BE49-F238E27FC236}">
                <a16:creationId xmlns:a16="http://schemas.microsoft.com/office/drawing/2014/main" id="{F1BBB142-B263-CF4C-F5A7-9C5F209B0918}"/>
              </a:ext>
            </a:extLst>
          </p:cNvPr>
          <p:cNvSpPr>
            <a:spLocks noGrp="1"/>
          </p:cNvSpPr>
          <p:nvPr>
            <p:ph type="ftr" sz="quarter" idx="11"/>
          </p:nvPr>
        </p:nvSpPr>
        <p:spPr>
          <a:xfrm>
            <a:off x="124588" y="331600"/>
            <a:ext cx="5359071" cy="654633"/>
          </a:xfrm>
          <a:noFill/>
          <a:ln>
            <a:solidFill>
              <a:schemeClr val="bg1"/>
            </a:solidFill>
          </a:ln>
        </p:spPr>
        <p:txBody>
          <a:bodyPr/>
          <a:lstStyle/>
          <a:p>
            <a:pPr algn="just"/>
            <a:r>
              <a:rPr lang="en-US" sz="2800" dirty="0">
                <a:latin typeface="Retro Gaming" panose="00000400000000000000" pitchFamily="2" charset="0"/>
              </a:rPr>
              <a:t>GO GOLF? WHAT IS IT?</a:t>
            </a:r>
          </a:p>
        </p:txBody>
      </p:sp>
      <p:pic>
        <p:nvPicPr>
          <p:cNvPr id="12" name="Picture 11" descr="A pixelated golf ball&#10;&#10;Description automatically generated">
            <a:extLst>
              <a:ext uri="{FF2B5EF4-FFF2-40B4-BE49-F238E27FC236}">
                <a16:creationId xmlns:a16="http://schemas.microsoft.com/office/drawing/2014/main" id="{11EAF624-90AA-9E9B-3BA6-FCEB95ED03C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6916" y="5262110"/>
            <a:ext cx="286916" cy="286916"/>
          </a:xfrm>
          <a:prstGeom prst="rect">
            <a:avLst/>
          </a:prstGeom>
        </p:spPr>
      </p:pic>
      <p:sp>
        <p:nvSpPr>
          <p:cNvPr id="14" name="TextBox 13">
            <a:extLst>
              <a:ext uri="{FF2B5EF4-FFF2-40B4-BE49-F238E27FC236}">
                <a16:creationId xmlns:a16="http://schemas.microsoft.com/office/drawing/2014/main" id="{00BD4946-62A1-F03B-7C8A-D703F39AD1A8}"/>
              </a:ext>
            </a:extLst>
          </p:cNvPr>
          <p:cNvSpPr txBox="1"/>
          <p:nvPr/>
        </p:nvSpPr>
        <p:spPr>
          <a:xfrm>
            <a:off x="124588" y="1371600"/>
            <a:ext cx="6360188" cy="923330"/>
          </a:xfrm>
          <a:prstGeom prst="rect">
            <a:avLst/>
          </a:prstGeom>
          <a:noFill/>
          <a:ln>
            <a:noFill/>
          </a:ln>
          <a:effectLst/>
          <a:scene3d>
            <a:camera prst="orthographicFront">
              <a:rot lat="0" lon="0" rev="0"/>
            </a:camera>
            <a:lightRig rig="chilly" dir="t">
              <a:rot lat="0" lon="0" rev="18480000"/>
            </a:lightRig>
          </a:scene3d>
          <a:sp3d prstMaterial="clear">
            <a:bevelT h="63500"/>
          </a:sp3d>
        </p:spPr>
        <p:txBody>
          <a:bodyPr wrap="square" rtlCol="0">
            <a:spAutoFit/>
          </a:bodyPr>
          <a:lstStyle/>
          <a:p>
            <a:r>
              <a:rPr lang="en-GB" dirty="0">
                <a:latin typeface="Retro Gaming" panose="00000400000000000000" pitchFamily="2" charset="0"/>
              </a:rPr>
              <a:t>Go Golf is graphical 2d arcade golf game inspired by flash, mobile and SNES era games, such as Coffee Golf</a:t>
            </a:r>
          </a:p>
        </p:txBody>
      </p:sp>
      <p:sp>
        <p:nvSpPr>
          <p:cNvPr id="17" name="TextBox 16">
            <a:extLst>
              <a:ext uri="{FF2B5EF4-FFF2-40B4-BE49-F238E27FC236}">
                <a16:creationId xmlns:a16="http://schemas.microsoft.com/office/drawing/2014/main" id="{3E7937A9-36AA-A970-A570-0C60614658F5}"/>
              </a:ext>
            </a:extLst>
          </p:cNvPr>
          <p:cNvSpPr txBox="1"/>
          <p:nvPr/>
        </p:nvSpPr>
        <p:spPr>
          <a:xfrm>
            <a:off x="124588" y="2606053"/>
            <a:ext cx="8266377" cy="3863943"/>
          </a:xfrm>
          <a:prstGeom prst="rect">
            <a:avLst/>
          </a:prstGeom>
          <a:noFill/>
          <a:ln>
            <a:noFill/>
          </a:ln>
          <a:effectLst/>
          <a:scene3d>
            <a:camera prst="orthographicFront">
              <a:rot lat="0" lon="0" rev="0"/>
            </a:camera>
            <a:lightRig rig="chilly" dir="t">
              <a:rot lat="0" lon="0" rev="18480000"/>
            </a:lightRig>
          </a:scene3d>
          <a:sp3d prstMaterial="clear">
            <a:bevelT h="63500"/>
          </a:sp3d>
        </p:spPr>
        <p:txBody>
          <a:bodyPr wrap="square" rtlCol="0">
            <a:spAutoFit/>
          </a:bodyPr>
          <a:lstStyle/>
          <a:p>
            <a:r>
              <a:rPr lang="en-GB" sz="1500" dirty="0">
                <a:latin typeface="Retro Gaming" panose="00000400000000000000" pitchFamily="2" charset="0"/>
              </a:rPr>
              <a:t>The game includes various features </a:t>
            </a:r>
          </a:p>
          <a:p>
            <a:r>
              <a:rPr lang="en-GB" sz="1500" dirty="0">
                <a:latin typeface="Retro Gaming" panose="00000400000000000000" pitchFamily="2" charset="0"/>
              </a:rPr>
              <a:t>including:</a:t>
            </a:r>
          </a:p>
          <a:p>
            <a:endParaRPr lang="en-GB" sz="1500" dirty="0">
              <a:latin typeface="Retro Gaming" panose="00000400000000000000" pitchFamily="2" charset="0"/>
            </a:endParaRPr>
          </a:p>
          <a:p>
            <a:pPr marL="742950" lvl="1" indent="-285750">
              <a:lnSpc>
                <a:spcPct val="150000"/>
              </a:lnSpc>
              <a:buFont typeface="Wingdings" panose="05000000000000000000" pitchFamily="2" charset="2"/>
              <a:buChar char="v"/>
            </a:pPr>
            <a:r>
              <a:rPr lang="en-GB" sz="1500" dirty="0">
                <a:latin typeface="Retro Gaming" panose="00000400000000000000" pitchFamily="2" charset="0"/>
              </a:rPr>
              <a:t> Physics based trajectory and collisions systems</a:t>
            </a:r>
          </a:p>
          <a:p>
            <a:pPr marL="742950" lvl="1" indent="-285750">
              <a:lnSpc>
                <a:spcPct val="150000"/>
              </a:lnSpc>
              <a:buFont typeface="Wingdings" panose="05000000000000000000" pitchFamily="2" charset="2"/>
              <a:buChar char="v"/>
            </a:pPr>
            <a:r>
              <a:rPr lang="en-GB" sz="1500" dirty="0">
                <a:latin typeface="Retro Gaming" panose="00000400000000000000" pitchFamily="2" charset="0"/>
              </a:rPr>
              <a:t>Multiple game modes- 3 holes, 5 holes and random </a:t>
            </a:r>
          </a:p>
          <a:p>
            <a:pPr marL="742950" lvl="1" indent="-285750">
              <a:lnSpc>
                <a:spcPct val="150000"/>
              </a:lnSpc>
              <a:buFont typeface="Wingdings" panose="05000000000000000000" pitchFamily="2" charset="2"/>
              <a:buChar char="v"/>
            </a:pPr>
            <a:r>
              <a:rPr lang="en-GB" sz="1500" dirty="0">
                <a:latin typeface="Retro Gaming" panose="00000400000000000000" pitchFamily="2" charset="0"/>
              </a:rPr>
              <a:t>GUI with pixel art style</a:t>
            </a:r>
          </a:p>
          <a:p>
            <a:pPr marL="742950" lvl="1" indent="-285750">
              <a:lnSpc>
                <a:spcPct val="150000"/>
              </a:lnSpc>
              <a:buFont typeface="Wingdings" panose="05000000000000000000" pitchFamily="2" charset="2"/>
              <a:buChar char="v"/>
            </a:pPr>
            <a:r>
              <a:rPr lang="en-GB" sz="1500" dirty="0">
                <a:latin typeface="Retro Gaming" panose="00000400000000000000" pitchFamily="2" charset="0"/>
              </a:rPr>
              <a:t>A leaderboard system to keep track of player performances after a match</a:t>
            </a:r>
          </a:p>
          <a:p>
            <a:pPr marL="742950" lvl="1" indent="-285750">
              <a:lnSpc>
                <a:spcPct val="150000"/>
              </a:lnSpc>
              <a:buFont typeface="Wingdings" panose="05000000000000000000" pitchFamily="2" charset="2"/>
              <a:buChar char="v"/>
            </a:pPr>
            <a:r>
              <a:rPr lang="en-GB" sz="1500" dirty="0">
                <a:latin typeface="Retro Gaming" panose="00000400000000000000" pitchFamily="2" charset="0"/>
              </a:rPr>
              <a:t> A store, wallet system and skin selection</a:t>
            </a:r>
          </a:p>
          <a:p>
            <a:pPr marL="742950" lvl="1" indent="-285750">
              <a:lnSpc>
                <a:spcPct val="150000"/>
              </a:lnSpc>
              <a:buFont typeface="Wingdings" panose="05000000000000000000" pitchFamily="2" charset="2"/>
              <a:buChar char="v"/>
            </a:pPr>
            <a:r>
              <a:rPr lang="en-GB" sz="1500" dirty="0">
                <a:latin typeface="Retro Gaming" panose="00000400000000000000" pitchFamily="2" charset="0"/>
              </a:rPr>
              <a:t>To create account that stores users' previous data and encrypts their passwords using Superencipherment cipher</a:t>
            </a:r>
          </a:p>
          <a:p>
            <a:pPr marL="742950" lvl="1" indent="-285750">
              <a:lnSpc>
                <a:spcPct val="150000"/>
              </a:lnSpc>
              <a:buFont typeface="Wingdings" panose="05000000000000000000" pitchFamily="2" charset="2"/>
              <a:buChar char="v"/>
            </a:pPr>
            <a:r>
              <a:rPr lang="en-GB" sz="1500" dirty="0">
                <a:latin typeface="Retro Gaming" panose="00000400000000000000" pitchFamily="2" charset="0"/>
              </a:rPr>
              <a:t>Level Editor</a:t>
            </a:r>
          </a:p>
        </p:txBody>
      </p:sp>
    </p:spTree>
    <p:custDataLst>
      <p:tags r:id="rId1"/>
    </p:custDataLst>
    <p:extLst>
      <p:ext uri="{BB962C8B-B14F-4D97-AF65-F5344CB8AC3E}">
        <p14:creationId xmlns:p14="http://schemas.microsoft.com/office/powerpoint/2010/main" val="1648924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7" presetClass="path" presetSubtype="0" accel="50000" decel="50000" fill="hold" nodeType="clickEffect">
                                  <p:stCondLst>
                                    <p:cond delay="0"/>
                                  </p:stCondLst>
                                  <p:childTnLst>
                                    <p:animMotion origin="layout" path="M 1.02643 -0.00185 L 0.75104 -0.46296 C 0.69375 -0.56689 0.60755 -0.62314 0.51732 -0.62314 C 0.41419 -0.62314 0.3319 -0.56689 0.27461 -0.46296 L -0.00104 -0.00185 " pathEditMode="relative" rAng="10800000" ptsTypes="AAAAA">
                                      <p:cBhvr>
                                        <p:cTn id="11" dur="2000" spd="-100000" fill="hold"/>
                                        <p:tgtEl>
                                          <p:spTgt spid="12"/>
                                        </p:tgtEl>
                                        <p:attrNameLst>
                                          <p:attrName>ppt_x</p:attrName>
                                          <p:attrName>ppt_y</p:attrName>
                                        </p:attrNameLst>
                                      </p:cBhvr>
                                      <p:rCtr x="-51367" y="-31065"/>
                                    </p:animMotion>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fill="hold"/>
                                        <p:tgtEl>
                                          <p:spTgt spid="14"/>
                                        </p:tgtEl>
                                        <p:attrNameLst>
                                          <p:attrName>ppt_x</p:attrName>
                                        </p:attrNameLst>
                                      </p:cBhvr>
                                      <p:tavLst>
                                        <p:tav tm="0">
                                          <p:val>
                                            <p:strVal val="#ppt_x"/>
                                          </p:val>
                                        </p:tav>
                                        <p:tav tm="100000">
                                          <p:val>
                                            <p:strVal val="#ppt_x"/>
                                          </p:val>
                                        </p:tav>
                                      </p:tavLst>
                                    </p:anim>
                                    <p:anim calcmode="lin" valueType="num">
                                      <p:cBhvr additive="base">
                                        <p:cTn id="17"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600"/>
                                  </p:stCondLst>
                                  <p:childTnLst>
                                    <p:set>
                                      <p:cBhvr>
                                        <p:cTn id="21" dur="1" fill="hold">
                                          <p:stCondLst>
                                            <p:cond delay="0"/>
                                          </p:stCondLst>
                                        </p:cTn>
                                        <p:tgtEl>
                                          <p:spTgt spid="17"/>
                                        </p:tgtEl>
                                        <p:attrNameLst>
                                          <p:attrName>style.visibility</p:attrName>
                                        </p:attrNameLst>
                                      </p:cBhvr>
                                      <p:to>
                                        <p:strVal val="visible"/>
                                      </p:to>
                                    </p:set>
                                    <p:anim calcmode="lin" valueType="num">
                                      <p:cBhvr additive="base">
                                        <p:cTn id="22" dur="800" fill="hold"/>
                                        <p:tgtEl>
                                          <p:spTgt spid="17"/>
                                        </p:tgtEl>
                                        <p:attrNameLst>
                                          <p:attrName>ppt_x</p:attrName>
                                        </p:attrNameLst>
                                      </p:cBhvr>
                                      <p:tavLst>
                                        <p:tav tm="0">
                                          <p:val>
                                            <p:strVal val="#ppt_x"/>
                                          </p:val>
                                        </p:tav>
                                        <p:tav tm="100000">
                                          <p:val>
                                            <p:strVal val="#ppt_x"/>
                                          </p:val>
                                        </p:tav>
                                      </p:tavLst>
                                    </p:anim>
                                    <p:anim calcmode="lin" valueType="num">
                                      <p:cBhvr additive="base">
                                        <p:cTn id="23" dur="8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95C7A2F5-1470-9584-27EE-CC6762729CE4}"/>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AC4446C5-20A2-FCDA-88D0-7227AC240F82}"/>
              </a:ext>
            </a:extLst>
          </p:cNvPr>
          <p:cNvPicPr>
            <a:picLocks noChangeAspect="1"/>
          </p:cNvPicPr>
          <p:nvPr/>
        </p:nvPicPr>
        <p:blipFill>
          <a:blip r:embed="rId2"/>
          <a:stretch>
            <a:fillRect/>
          </a:stretch>
        </p:blipFill>
        <p:spPr>
          <a:xfrm>
            <a:off x="0" y="1310640"/>
            <a:ext cx="12192000" cy="5547360"/>
          </a:xfrm>
          <a:prstGeom prst="rect">
            <a:avLst/>
          </a:prstGeom>
        </p:spPr>
      </p:pic>
      <p:sp>
        <p:nvSpPr>
          <p:cNvPr id="4" name="Slide Number Placeholder 3">
            <a:extLst>
              <a:ext uri="{FF2B5EF4-FFF2-40B4-BE49-F238E27FC236}">
                <a16:creationId xmlns:a16="http://schemas.microsoft.com/office/drawing/2014/main" id="{399B6906-A08F-9BEA-525D-6740BFFB23D0}"/>
              </a:ext>
            </a:extLst>
          </p:cNvPr>
          <p:cNvSpPr>
            <a:spLocks noGrp="1"/>
          </p:cNvSpPr>
          <p:nvPr>
            <p:ph type="sldNum" sz="quarter" idx="12"/>
          </p:nvPr>
        </p:nvSpPr>
        <p:spPr/>
        <p:txBody>
          <a:bodyPr/>
          <a:lstStyle/>
          <a:p>
            <a:fld id="{87E7843D-FF13-4365-9478-9625B70A2705}" type="slidenum">
              <a:rPr lang="en-US" smtClean="0"/>
              <a:t>3</a:t>
            </a:fld>
            <a:endParaRPr lang="en-US" dirty="0"/>
          </a:p>
        </p:txBody>
      </p:sp>
      <p:sp>
        <p:nvSpPr>
          <p:cNvPr id="3" name="Footer Placeholder 2">
            <a:extLst>
              <a:ext uri="{FF2B5EF4-FFF2-40B4-BE49-F238E27FC236}">
                <a16:creationId xmlns:a16="http://schemas.microsoft.com/office/drawing/2014/main" id="{05CC77D9-4EAD-8C69-06F0-DD6019767319}"/>
              </a:ext>
            </a:extLst>
          </p:cNvPr>
          <p:cNvSpPr>
            <a:spLocks noGrp="1"/>
          </p:cNvSpPr>
          <p:nvPr>
            <p:ph type="ftr" sz="quarter" idx="11"/>
          </p:nvPr>
        </p:nvSpPr>
        <p:spPr>
          <a:xfrm>
            <a:off x="124588" y="331600"/>
            <a:ext cx="8395826" cy="654633"/>
          </a:xfrm>
          <a:noFill/>
          <a:ln>
            <a:solidFill>
              <a:schemeClr val="bg1"/>
            </a:solidFill>
          </a:ln>
        </p:spPr>
        <p:txBody>
          <a:bodyPr/>
          <a:lstStyle/>
          <a:p>
            <a:pPr algn="just"/>
            <a:r>
              <a:rPr lang="en-US" sz="2800" dirty="0">
                <a:latin typeface="Retro Gaming" panose="00000400000000000000" pitchFamily="2" charset="0"/>
              </a:rPr>
              <a:t>HOW THE GAME GOING TO BE MADE? </a:t>
            </a:r>
          </a:p>
        </p:txBody>
      </p:sp>
      <p:pic>
        <p:nvPicPr>
          <p:cNvPr id="10" name="Picture 9">
            <a:extLst>
              <a:ext uri="{FF2B5EF4-FFF2-40B4-BE49-F238E27FC236}">
                <a16:creationId xmlns:a16="http://schemas.microsoft.com/office/drawing/2014/main" id="{11F9458E-7FBC-6BC3-FB2D-D3EF6CD08CD7}"/>
              </a:ext>
            </a:extLst>
          </p:cNvPr>
          <p:cNvPicPr>
            <a:picLocks noChangeAspect="1"/>
          </p:cNvPicPr>
          <p:nvPr/>
        </p:nvPicPr>
        <p:blipFill>
          <a:blip r:embed="rId3"/>
          <a:stretch>
            <a:fillRect/>
          </a:stretch>
        </p:blipFill>
        <p:spPr>
          <a:xfrm>
            <a:off x="0" y="1219200"/>
            <a:ext cx="12192000" cy="5638800"/>
          </a:xfrm>
          <a:prstGeom prst="rect">
            <a:avLst/>
          </a:prstGeom>
        </p:spPr>
      </p:pic>
      <p:pic>
        <p:nvPicPr>
          <p:cNvPr id="9" name="Picture 8" descr="An orange rectangular object with black edges&#10;&#10;Description automatically generated">
            <a:extLst>
              <a:ext uri="{FF2B5EF4-FFF2-40B4-BE49-F238E27FC236}">
                <a16:creationId xmlns:a16="http://schemas.microsoft.com/office/drawing/2014/main" id="{53611898-5C3E-E9EA-596F-EB00E46A7D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55890" y="1321074"/>
            <a:ext cx="3911522" cy="5519594"/>
          </a:xfrm>
          <a:prstGeom prst="rect">
            <a:avLst/>
          </a:prstGeom>
        </p:spPr>
      </p:pic>
      <p:sp>
        <p:nvSpPr>
          <p:cNvPr id="5" name="TextBox 4">
            <a:extLst>
              <a:ext uri="{FF2B5EF4-FFF2-40B4-BE49-F238E27FC236}">
                <a16:creationId xmlns:a16="http://schemas.microsoft.com/office/drawing/2014/main" id="{1E625671-823F-3BDF-C0C4-BE522120F8AA}"/>
              </a:ext>
            </a:extLst>
          </p:cNvPr>
          <p:cNvSpPr txBox="1"/>
          <p:nvPr/>
        </p:nvSpPr>
        <p:spPr>
          <a:xfrm>
            <a:off x="259059" y="1670074"/>
            <a:ext cx="6360188" cy="646331"/>
          </a:xfrm>
          <a:prstGeom prst="rect">
            <a:avLst/>
          </a:prstGeom>
          <a:noFill/>
          <a:ln>
            <a:noFill/>
          </a:ln>
          <a:effectLst/>
          <a:scene3d>
            <a:camera prst="orthographicFront">
              <a:rot lat="0" lon="0" rev="0"/>
            </a:camera>
            <a:lightRig rig="chilly" dir="t">
              <a:rot lat="0" lon="0" rev="18480000"/>
            </a:lightRig>
          </a:scene3d>
          <a:sp3d prstMaterial="clear">
            <a:bevelT h="63500"/>
          </a:sp3d>
        </p:spPr>
        <p:txBody>
          <a:bodyPr wrap="square" rtlCol="0">
            <a:spAutoFit/>
          </a:bodyPr>
          <a:lstStyle/>
          <a:p>
            <a:r>
              <a:rPr lang="en-GB" dirty="0">
                <a:latin typeface="Retro Gaming" panose="00000400000000000000" pitchFamily="2" charset="0"/>
              </a:rPr>
              <a:t>The game will built with the use of various programming languages and modules</a:t>
            </a:r>
          </a:p>
        </p:txBody>
      </p:sp>
      <p:sp>
        <p:nvSpPr>
          <p:cNvPr id="13" name="TextBox 12">
            <a:extLst>
              <a:ext uri="{FF2B5EF4-FFF2-40B4-BE49-F238E27FC236}">
                <a16:creationId xmlns:a16="http://schemas.microsoft.com/office/drawing/2014/main" id="{8A3A47CD-950F-EAE8-EC4F-4A35DE0E689C}"/>
              </a:ext>
            </a:extLst>
          </p:cNvPr>
          <p:cNvSpPr txBox="1"/>
          <p:nvPr/>
        </p:nvSpPr>
        <p:spPr>
          <a:xfrm>
            <a:off x="8072181" y="1623908"/>
            <a:ext cx="4078940" cy="369332"/>
          </a:xfrm>
          <a:prstGeom prst="rect">
            <a:avLst/>
          </a:prstGeom>
          <a:noFill/>
        </p:spPr>
        <p:txBody>
          <a:bodyPr wrap="square" rtlCol="0">
            <a:spAutoFit/>
          </a:bodyPr>
          <a:lstStyle/>
          <a:p>
            <a:pPr algn="ctr"/>
            <a:r>
              <a:rPr lang="en-GB" b="1" dirty="0">
                <a:effectLst>
                  <a:outerShdw blurRad="38100" dist="38100" dir="2700000" algn="tl">
                    <a:srgbClr val="000000">
                      <a:alpha val="43137"/>
                    </a:srgbClr>
                  </a:outerShdw>
                </a:effectLst>
                <a:latin typeface="Retro Gaming" panose="00000400000000000000" pitchFamily="2" charset="0"/>
              </a:rPr>
              <a:t>Programming Languages</a:t>
            </a:r>
          </a:p>
        </p:txBody>
      </p:sp>
      <p:sp>
        <p:nvSpPr>
          <p:cNvPr id="15" name="TextBox 14">
            <a:extLst>
              <a:ext uri="{FF2B5EF4-FFF2-40B4-BE49-F238E27FC236}">
                <a16:creationId xmlns:a16="http://schemas.microsoft.com/office/drawing/2014/main" id="{D748B6A0-739B-B0C9-A574-C6CBC69F542E}"/>
              </a:ext>
            </a:extLst>
          </p:cNvPr>
          <p:cNvSpPr txBox="1"/>
          <p:nvPr/>
        </p:nvSpPr>
        <p:spPr>
          <a:xfrm>
            <a:off x="8520415" y="2187700"/>
            <a:ext cx="3182471" cy="1384995"/>
          </a:xfrm>
          <a:prstGeom prst="rect">
            <a:avLst/>
          </a:prstGeom>
          <a:noFill/>
        </p:spPr>
        <p:txBody>
          <a:bodyPr wrap="square" rtlCol="0">
            <a:spAutoFit/>
          </a:bodyPr>
          <a:lstStyle/>
          <a:p>
            <a:pPr marL="285750" indent="-285750">
              <a:buFont typeface="Arial" panose="020B0604020202020204" pitchFamily="34" charset="0"/>
              <a:buChar char="•"/>
            </a:pPr>
            <a:r>
              <a:rPr lang="en-GB" sz="1400" dirty="0">
                <a:latin typeface="Retro Gaming" panose="00000400000000000000" pitchFamily="2" charset="0"/>
              </a:rPr>
              <a:t>Python (OOP, Libraries)</a:t>
            </a:r>
          </a:p>
          <a:p>
            <a:pPr marL="285750" indent="-285750">
              <a:buFont typeface="Arial" panose="020B0604020202020204" pitchFamily="34" charset="0"/>
              <a:buChar char="•"/>
            </a:pPr>
            <a:r>
              <a:rPr lang="en-GB" sz="1400" dirty="0">
                <a:latin typeface="Retro Gaming" panose="00000400000000000000" pitchFamily="2" charset="0"/>
              </a:rPr>
              <a:t>SQL (Relational databases) </a:t>
            </a:r>
          </a:p>
          <a:p>
            <a:pPr marL="285750" indent="-285750">
              <a:buFont typeface="Arial" panose="020B0604020202020204" pitchFamily="34" charset="0"/>
              <a:buChar char="•"/>
            </a:pPr>
            <a:endParaRPr lang="en-GB" sz="1400" dirty="0">
              <a:latin typeface="Retro Gaming" panose="00000400000000000000" pitchFamily="2" charset="0"/>
            </a:endParaRPr>
          </a:p>
          <a:p>
            <a:pPr marL="285750" indent="-285750">
              <a:buFont typeface="Arial" panose="020B0604020202020204" pitchFamily="34" charset="0"/>
              <a:buChar char="•"/>
            </a:pPr>
            <a:endParaRPr lang="en-GB" sz="1400" dirty="0">
              <a:latin typeface="Retro Gaming" panose="00000400000000000000" pitchFamily="2" charset="0"/>
            </a:endParaRPr>
          </a:p>
          <a:p>
            <a:pPr marL="285750" indent="-285750">
              <a:buFont typeface="Arial" panose="020B0604020202020204" pitchFamily="34" charset="0"/>
              <a:buChar char="•"/>
            </a:pPr>
            <a:endParaRPr lang="en-GB" sz="1400" dirty="0">
              <a:latin typeface="Retro Gaming" panose="00000400000000000000" pitchFamily="2" charset="0"/>
            </a:endParaRPr>
          </a:p>
        </p:txBody>
      </p:sp>
      <p:sp>
        <p:nvSpPr>
          <p:cNvPr id="19" name="TextBox 18">
            <a:extLst>
              <a:ext uri="{FF2B5EF4-FFF2-40B4-BE49-F238E27FC236}">
                <a16:creationId xmlns:a16="http://schemas.microsoft.com/office/drawing/2014/main" id="{4440E57D-89C6-B29D-37A4-5B9983763371}"/>
              </a:ext>
            </a:extLst>
          </p:cNvPr>
          <p:cNvSpPr txBox="1"/>
          <p:nvPr/>
        </p:nvSpPr>
        <p:spPr>
          <a:xfrm>
            <a:off x="8072180" y="3075301"/>
            <a:ext cx="4078940" cy="369332"/>
          </a:xfrm>
          <a:prstGeom prst="rect">
            <a:avLst/>
          </a:prstGeom>
          <a:noFill/>
        </p:spPr>
        <p:txBody>
          <a:bodyPr wrap="square" rtlCol="0">
            <a:spAutoFit/>
          </a:bodyPr>
          <a:lstStyle/>
          <a:p>
            <a:pPr algn="ctr"/>
            <a:r>
              <a:rPr lang="en-GB" b="1" dirty="0">
                <a:effectLst>
                  <a:outerShdw blurRad="38100" dist="38100" dir="2700000" algn="tl">
                    <a:srgbClr val="000000">
                      <a:alpha val="43137"/>
                    </a:srgbClr>
                  </a:outerShdw>
                </a:effectLst>
                <a:latin typeface="Retro Gaming" panose="00000400000000000000" pitchFamily="2" charset="0"/>
              </a:rPr>
              <a:t>Modules</a:t>
            </a:r>
          </a:p>
        </p:txBody>
      </p:sp>
      <p:sp>
        <p:nvSpPr>
          <p:cNvPr id="20" name="TextBox 19">
            <a:extLst>
              <a:ext uri="{FF2B5EF4-FFF2-40B4-BE49-F238E27FC236}">
                <a16:creationId xmlns:a16="http://schemas.microsoft.com/office/drawing/2014/main" id="{B3479372-EB36-AFA2-A656-66A09B353E3B}"/>
              </a:ext>
            </a:extLst>
          </p:cNvPr>
          <p:cNvSpPr txBox="1"/>
          <p:nvPr/>
        </p:nvSpPr>
        <p:spPr>
          <a:xfrm>
            <a:off x="8520414" y="3493802"/>
            <a:ext cx="3182471" cy="2246769"/>
          </a:xfrm>
          <a:prstGeom prst="rect">
            <a:avLst/>
          </a:prstGeom>
          <a:noFill/>
        </p:spPr>
        <p:txBody>
          <a:bodyPr wrap="square" rtlCol="0">
            <a:spAutoFit/>
          </a:bodyPr>
          <a:lstStyle/>
          <a:p>
            <a:pPr marL="285750" indent="-285750">
              <a:buFont typeface="Arial" panose="020B0604020202020204" pitchFamily="34" charset="0"/>
              <a:buChar char="•"/>
            </a:pPr>
            <a:r>
              <a:rPr lang="en-GB" sz="1400" dirty="0">
                <a:latin typeface="Retro Gaming" panose="00000400000000000000" pitchFamily="2" charset="0"/>
              </a:rPr>
              <a:t>PyGame (Game engine)</a:t>
            </a:r>
          </a:p>
          <a:p>
            <a:pPr marL="285750" indent="-285750">
              <a:buFont typeface="Arial" panose="020B0604020202020204" pitchFamily="34" charset="0"/>
              <a:buChar char="•"/>
            </a:pPr>
            <a:r>
              <a:rPr lang="en-GB" sz="1400" dirty="0">
                <a:latin typeface="Retro Gaming" panose="00000400000000000000" pitchFamily="2" charset="0"/>
              </a:rPr>
              <a:t>Pickle (Store list elements)</a:t>
            </a:r>
          </a:p>
          <a:p>
            <a:pPr marL="285750" indent="-285750">
              <a:buFont typeface="Arial" panose="020B0604020202020204" pitchFamily="34" charset="0"/>
              <a:buChar char="•"/>
            </a:pPr>
            <a:r>
              <a:rPr lang="en-GB" sz="1400" dirty="0">
                <a:latin typeface="Retro Gaming" panose="00000400000000000000" pitchFamily="2" charset="0"/>
              </a:rPr>
              <a:t>SQLlite3 (Relational databases) </a:t>
            </a:r>
          </a:p>
          <a:p>
            <a:pPr marL="285750" indent="-285750">
              <a:buFont typeface="Arial" panose="020B0604020202020204" pitchFamily="34" charset="0"/>
              <a:buChar char="•"/>
            </a:pPr>
            <a:r>
              <a:rPr lang="en-GB" sz="1400" dirty="0">
                <a:latin typeface="Retro Gaming" panose="00000400000000000000" pitchFamily="2" charset="0"/>
              </a:rPr>
              <a:t>Logger (Testing)</a:t>
            </a:r>
          </a:p>
          <a:p>
            <a:pPr marL="285750" indent="-285750">
              <a:buFont typeface="Arial" panose="020B0604020202020204" pitchFamily="34" charset="0"/>
              <a:buChar char="•"/>
            </a:pPr>
            <a:endParaRPr lang="en-GB" sz="1400" dirty="0">
              <a:latin typeface="Retro Gaming" panose="00000400000000000000" pitchFamily="2" charset="0"/>
            </a:endParaRPr>
          </a:p>
          <a:p>
            <a:pPr marL="285750" indent="-285750">
              <a:buFont typeface="Arial" panose="020B0604020202020204" pitchFamily="34" charset="0"/>
              <a:buChar char="•"/>
            </a:pPr>
            <a:endParaRPr lang="en-GB" sz="1400" dirty="0">
              <a:latin typeface="Retro Gaming" panose="00000400000000000000" pitchFamily="2" charset="0"/>
            </a:endParaRPr>
          </a:p>
          <a:p>
            <a:pPr marL="285750" indent="-285750">
              <a:buFont typeface="Arial" panose="020B0604020202020204" pitchFamily="34" charset="0"/>
              <a:buChar char="•"/>
            </a:pPr>
            <a:endParaRPr lang="en-GB" sz="1400" dirty="0">
              <a:latin typeface="Retro Gaming" panose="00000400000000000000" pitchFamily="2" charset="0"/>
            </a:endParaRPr>
          </a:p>
          <a:p>
            <a:pPr marL="285750" indent="-285750">
              <a:buFont typeface="Arial" panose="020B0604020202020204" pitchFamily="34" charset="0"/>
              <a:buChar char="•"/>
            </a:pPr>
            <a:endParaRPr lang="en-GB" sz="1400" dirty="0">
              <a:latin typeface="Retro Gaming" panose="00000400000000000000" pitchFamily="2" charset="0"/>
            </a:endParaRPr>
          </a:p>
        </p:txBody>
      </p:sp>
      <p:sp>
        <p:nvSpPr>
          <p:cNvPr id="21" name="TextBox 20">
            <a:extLst>
              <a:ext uri="{FF2B5EF4-FFF2-40B4-BE49-F238E27FC236}">
                <a16:creationId xmlns:a16="http://schemas.microsoft.com/office/drawing/2014/main" id="{21C86411-E4AB-5E84-F9F9-4BDB2783DFF2}"/>
              </a:ext>
            </a:extLst>
          </p:cNvPr>
          <p:cNvSpPr txBox="1"/>
          <p:nvPr/>
        </p:nvSpPr>
        <p:spPr>
          <a:xfrm>
            <a:off x="259059" y="2772736"/>
            <a:ext cx="6360188" cy="1754326"/>
          </a:xfrm>
          <a:prstGeom prst="rect">
            <a:avLst/>
          </a:prstGeom>
          <a:noFill/>
          <a:ln>
            <a:noFill/>
          </a:ln>
          <a:effectLst/>
          <a:scene3d>
            <a:camera prst="orthographicFront">
              <a:rot lat="0" lon="0" rev="0"/>
            </a:camera>
            <a:lightRig rig="chilly" dir="t">
              <a:rot lat="0" lon="0" rev="18480000"/>
            </a:lightRig>
          </a:scene3d>
          <a:sp3d prstMaterial="clear">
            <a:bevelT h="63500"/>
          </a:sp3d>
        </p:spPr>
        <p:txBody>
          <a:bodyPr wrap="square" rtlCol="0">
            <a:spAutoFit/>
          </a:bodyPr>
          <a:lstStyle/>
          <a:p>
            <a:r>
              <a:rPr lang="en-GB" dirty="0">
                <a:latin typeface="Retro Gaming" panose="00000400000000000000" pitchFamily="2" charset="0"/>
              </a:rPr>
              <a:t>Python is interpreter language, that use OOP. Which allows the creations of objects that may share or not share attributes or methods between them or contain them in with their life cycle dependent on their implementation </a:t>
            </a:r>
          </a:p>
        </p:txBody>
      </p:sp>
      <p:sp>
        <p:nvSpPr>
          <p:cNvPr id="22" name="TextBox 21">
            <a:extLst>
              <a:ext uri="{FF2B5EF4-FFF2-40B4-BE49-F238E27FC236}">
                <a16:creationId xmlns:a16="http://schemas.microsoft.com/office/drawing/2014/main" id="{7CC4A9BB-7DFA-3641-3FEF-A53DA0E4EE94}"/>
              </a:ext>
            </a:extLst>
          </p:cNvPr>
          <p:cNvSpPr txBox="1"/>
          <p:nvPr/>
        </p:nvSpPr>
        <p:spPr>
          <a:xfrm>
            <a:off x="259059" y="4904188"/>
            <a:ext cx="6360188" cy="1200329"/>
          </a:xfrm>
          <a:prstGeom prst="rect">
            <a:avLst/>
          </a:prstGeom>
          <a:noFill/>
          <a:ln>
            <a:noFill/>
          </a:ln>
          <a:effectLst/>
          <a:scene3d>
            <a:camera prst="orthographicFront">
              <a:rot lat="0" lon="0" rev="0"/>
            </a:camera>
            <a:lightRig rig="chilly" dir="t">
              <a:rot lat="0" lon="0" rev="18480000"/>
            </a:lightRig>
          </a:scene3d>
          <a:sp3d prstMaterial="clear">
            <a:bevelT h="63500"/>
          </a:sp3d>
        </p:spPr>
        <p:txBody>
          <a:bodyPr wrap="square" rtlCol="0">
            <a:spAutoFit/>
          </a:bodyPr>
          <a:lstStyle/>
          <a:p>
            <a:r>
              <a:rPr lang="en-GB" dirty="0">
                <a:latin typeface="Retro Gaming" panose="00000400000000000000" pitchFamily="2" charset="0"/>
              </a:rPr>
              <a:t>The game will use PyGame, a small game engine, that will be used to create a GUI for the game and allowing easy interaction between the user and code</a:t>
            </a:r>
          </a:p>
        </p:txBody>
      </p:sp>
    </p:spTree>
    <p:extLst>
      <p:ext uri="{BB962C8B-B14F-4D97-AF65-F5344CB8AC3E}">
        <p14:creationId xmlns:p14="http://schemas.microsoft.com/office/powerpoint/2010/main" val="328046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1"/>
                                        </p:tgtEl>
                                        <p:attrNameLst>
                                          <p:attrName>style.visibility</p:attrName>
                                        </p:attrNameLst>
                                      </p:cBhvr>
                                      <p:to>
                                        <p:strVal val="visible"/>
                                      </p:to>
                                    </p:set>
                                    <p:anim calcmode="lin" valueType="num">
                                      <p:cBhvr additive="base">
                                        <p:cTn id="18" dur="500" fill="hold"/>
                                        <p:tgtEl>
                                          <p:spTgt spid="21"/>
                                        </p:tgtEl>
                                        <p:attrNameLst>
                                          <p:attrName>ppt_x</p:attrName>
                                        </p:attrNameLst>
                                      </p:cBhvr>
                                      <p:tavLst>
                                        <p:tav tm="0">
                                          <p:val>
                                            <p:strVal val="#ppt_x"/>
                                          </p:val>
                                        </p:tav>
                                        <p:tav tm="100000">
                                          <p:val>
                                            <p:strVal val="#ppt_x"/>
                                          </p:val>
                                        </p:tav>
                                      </p:tavLst>
                                    </p:anim>
                                    <p:anim calcmode="lin" valueType="num">
                                      <p:cBhvr additive="base">
                                        <p:cTn id="19"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2"/>
                                        </p:tgtEl>
                                        <p:attrNameLst>
                                          <p:attrName>style.visibility</p:attrName>
                                        </p:attrNameLst>
                                      </p:cBhvr>
                                      <p:to>
                                        <p:strVal val="visible"/>
                                      </p:to>
                                    </p:set>
                                    <p:anim calcmode="lin" valueType="num">
                                      <p:cBhvr additive="base">
                                        <p:cTn id="24" dur="500" fill="hold"/>
                                        <p:tgtEl>
                                          <p:spTgt spid="22"/>
                                        </p:tgtEl>
                                        <p:attrNameLst>
                                          <p:attrName>ppt_x</p:attrName>
                                        </p:attrNameLst>
                                      </p:cBhvr>
                                      <p:tavLst>
                                        <p:tav tm="0">
                                          <p:val>
                                            <p:strVal val="#ppt_x"/>
                                          </p:val>
                                        </p:tav>
                                        <p:tav tm="100000">
                                          <p:val>
                                            <p:strVal val="#ppt_x"/>
                                          </p:val>
                                        </p:tav>
                                      </p:tavLst>
                                    </p:anim>
                                    <p:anim calcmode="lin" valueType="num">
                                      <p:cBhvr additive="base">
                                        <p:cTn id="25"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21" grpId="0"/>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E68EFDDF-5C53-8BE0-B92D-66F0268D3BDD}"/>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30716F32-0397-11BE-D1C2-1191A59FF655}"/>
              </a:ext>
            </a:extLst>
          </p:cNvPr>
          <p:cNvPicPr>
            <a:picLocks noChangeAspect="1"/>
          </p:cNvPicPr>
          <p:nvPr/>
        </p:nvPicPr>
        <p:blipFill>
          <a:blip r:embed="rId2"/>
          <a:stretch>
            <a:fillRect/>
          </a:stretch>
        </p:blipFill>
        <p:spPr>
          <a:xfrm>
            <a:off x="0" y="1310640"/>
            <a:ext cx="12192000" cy="5547360"/>
          </a:xfrm>
          <a:prstGeom prst="rect">
            <a:avLst/>
          </a:prstGeom>
        </p:spPr>
      </p:pic>
      <p:sp>
        <p:nvSpPr>
          <p:cNvPr id="4" name="Slide Number Placeholder 3">
            <a:extLst>
              <a:ext uri="{FF2B5EF4-FFF2-40B4-BE49-F238E27FC236}">
                <a16:creationId xmlns:a16="http://schemas.microsoft.com/office/drawing/2014/main" id="{D082EC78-8576-17E5-4A2B-DD04ED0E5CF6}"/>
              </a:ext>
            </a:extLst>
          </p:cNvPr>
          <p:cNvSpPr>
            <a:spLocks noGrp="1"/>
          </p:cNvSpPr>
          <p:nvPr>
            <p:ph type="sldNum" sz="quarter" idx="12"/>
          </p:nvPr>
        </p:nvSpPr>
        <p:spPr/>
        <p:txBody>
          <a:bodyPr/>
          <a:lstStyle/>
          <a:p>
            <a:fld id="{87E7843D-FF13-4365-9478-9625B70A2705}" type="slidenum">
              <a:rPr lang="en-US" smtClean="0"/>
              <a:t>4</a:t>
            </a:fld>
            <a:endParaRPr lang="en-US" dirty="0"/>
          </a:p>
        </p:txBody>
      </p:sp>
      <p:sp>
        <p:nvSpPr>
          <p:cNvPr id="3" name="Footer Placeholder 2">
            <a:extLst>
              <a:ext uri="{FF2B5EF4-FFF2-40B4-BE49-F238E27FC236}">
                <a16:creationId xmlns:a16="http://schemas.microsoft.com/office/drawing/2014/main" id="{6D1A30C1-CE96-E54E-FAB7-73BA3F46706B}"/>
              </a:ext>
            </a:extLst>
          </p:cNvPr>
          <p:cNvSpPr>
            <a:spLocks noGrp="1"/>
          </p:cNvSpPr>
          <p:nvPr>
            <p:ph type="ftr" sz="quarter" idx="11"/>
          </p:nvPr>
        </p:nvSpPr>
        <p:spPr>
          <a:xfrm>
            <a:off x="124588" y="331600"/>
            <a:ext cx="8395826" cy="654633"/>
          </a:xfrm>
          <a:noFill/>
          <a:ln>
            <a:solidFill>
              <a:schemeClr val="bg1"/>
            </a:solidFill>
          </a:ln>
        </p:spPr>
        <p:txBody>
          <a:bodyPr/>
          <a:lstStyle/>
          <a:p>
            <a:pPr algn="just"/>
            <a:r>
              <a:rPr lang="en-US" sz="2800" dirty="0">
                <a:latin typeface="Retro Gaming" panose="00000400000000000000" pitchFamily="2" charset="0"/>
              </a:rPr>
              <a:t>HOW THE GAME GOING TO BE MADE? </a:t>
            </a:r>
          </a:p>
        </p:txBody>
      </p:sp>
      <p:pic>
        <p:nvPicPr>
          <p:cNvPr id="10" name="Picture 9">
            <a:extLst>
              <a:ext uri="{FF2B5EF4-FFF2-40B4-BE49-F238E27FC236}">
                <a16:creationId xmlns:a16="http://schemas.microsoft.com/office/drawing/2014/main" id="{5A613134-E2B3-194A-C53C-8B8F794B4559}"/>
              </a:ext>
            </a:extLst>
          </p:cNvPr>
          <p:cNvPicPr>
            <a:picLocks noChangeAspect="1"/>
          </p:cNvPicPr>
          <p:nvPr/>
        </p:nvPicPr>
        <p:blipFill>
          <a:blip r:embed="rId3"/>
          <a:stretch>
            <a:fillRect/>
          </a:stretch>
        </p:blipFill>
        <p:spPr>
          <a:xfrm>
            <a:off x="0" y="1332795"/>
            <a:ext cx="12192000" cy="5638800"/>
          </a:xfrm>
          <a:prstGeom prst="rect">
            <a:avLst/>
          </a:prstGeom>
        </p:spPr>
      </p:pic>
      <p:pic>
        <p:nvPicPr>
          <p:cNvPr id="9" name="Picture 8" descr="An orange rectangular object with black edges&#10;&#10;Description automatically generated">
            <a:extLst>
              <a:ext uri="{FF2B5EF4-FFF2-40B4-BE49-F238E27FC236}">
                <a16:creationId xmlns:a16="http://schemas.microsoft.com/office/drawing/2014/main" id="{A0242A74-97AD-4147-828C-8B2917020C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55890" y="1321074"/>
            <a:ext cx="3911522" cy="5519594"/>
          </a:xfrm>
          <a:prstGeom prst="rect">
            <a:avLst/>
          </a:prstGeom>
        </p:spPr>
      </p:pic>
      <p:sp>
        <p:nvSpPr>
          <p:cNvPr id="5" name="TextBox 4">
            <a:extLst>
              <a:ext uri="{FF2B5EF4-FFF2-40B4-BE49-F238E27FC236}">
                <a16:creationId xmlns:a16="http://schemas.microsoft.com/office/drawing/2014/main" id="{0EBCDCBE-D17E-EE63-3AA6-04497171D9D0}"/>
              </a:ext>
            </a:extLst>
          </p:cNvPr>
          <p:cNvSpPr txBox="1"/>
          <p:nvPr/>
        </p:nvSpPr>
        <p:spPr>
          <a:xfrm>
            <a:off x="259059" y="1670074"/>
            <a:ext cx="6360188" cy="1477328"/>
          </a:xfrm>
          <a:prstGeom prst="rect">
            <a:avLst/>
          </a:prstGeom>
          <a:noFill/>
          <a:ln>
            <a:noFill/>
          </a:ln>
          <a:effectLst/>
          <a:scene3d>
            <a:camera prst="orthographicFront">
              <a:rot lat="0" lon="0" rev="0"/>
            </a:camera>
            <a:lightRig rig="chilly" dir="t">
              <a:rot lat="0" lon="0" rev="18480000"/>
            </a:lightRig>
          </a:scene3d>
          <a:sp3d prstMaterial="clear">
            <a:bevelT h="63500"/>
          </a:sp3d>
        </p:spPr>
        <p:txBody>
          <a:bodyPr wrap="square" rtlCol="0">
            <a:spAutoFit/>
          </a:bodyPr>
          <a:lstStyle/>
          <a:p>
            <a:r>
              <a:rPr lang="en-GB" dirty="0">
                <a:latin typeface="Retro Gaming" panose="00000400000000000000" pitchFamily="2" charset="0"/>
              </a:rPr>
              <a:t>SQL is a declarative programming language, that can be used to create relational databases. With the use of SQLlite3 module, it makes easy to make queries to the table from the game</a:t>
            </a:r>
          </a:p>
        </p:txBody>
      </p:sp>
      <p:sp>
        <p:nvSpPr>
          <p:cNvPr id="13" name="TextBox 12">
            <a:extLst>
              <a:ext uri="{FF2B5EF4-FFF2-40B4-BE49-F238E27FC236}">
                <a16:creationId xmlns:a16="http://schemas.microsoft.com/office/drawing/2014/main" id="{AD307F86-BF5E-4945-AA03-FC3D941DF24D}"/>
              </a:ext>
            </a:extLst>
          </p:cNvPr>
          <p:cNvSpPr txBox="1"/>
          <p:nvPr/>
        </p:nvSpPr>
        <p:spPr>
          <a:xfrm>
            <a:off x="8072181" y="1623908"/>
            <a:ext cx="4078940" cy="369332"/>
          </a:xfrm>
          <a:prstGeom prst="rect">
            <a:avLst/>
          </a:prstGeom>
          <a:noFill/>
        </p:spPr>
        <p:txBody>
          <a:bodyPr wrap="square" rtlCol="0">
            <a:spAutoFit/>
          </a:bodyPr>
          <a:lstStyle/>
          <a:p>
            <a:pPr algn="ctr"/>
            <a:r>
              <a:rPr lang="en-GB" b="1" dirty="0">
                <a:effectLst>
                  <a:outerShdw blurRad="38100" dist="38100" dir="2700000" algn="tl">
                    <a:srgbClr val="000000">
                      <a:alpha val="43137"/>
                    </a:srgbClr>
                  </a:outerShdw>
                </a:effectLst>
                <a:latin typeface="Retro Gaming" panose="00000400000000000000" pitchFamily="2" charset="0"/>
              </a:rPr>
              <a:t>Programming Languages</a:t>
            </a:r>
          </a:p>
        </p:txBody>
      </p:sp>
      <p:sp>
        <p:nvSpPr>
          <p:cNvPr id="15" name="TextBox 14">
            <a:extLst>
              <a:ext uri="{FF2B5EF4-FFF2-40B4-BE49-F238E27FC236}">
                <a16:creationId xmlns:a16="http://schemas.microsoft.com/office/drawing/2014/main" id="{C7672454-BD60-126A-CBC7-8F077B620B4F}"/>
              </a:ext>
            </a:extLst>
          </p:cNvPr>
          <p:cNvSpPr txBox="1"/>
          <p:nvPr/>
        </p:nvSpPr>
        <p:spPr>
          <a:xfrm>
            <a:off x="8520415" y="2187700"/>
            <a:ext cx="3182471" cy="1384995"/>
          </a:xfrm>
          <a:prstGeom prst="rect">
            <a:avLst/>
          </a:prstGeom>
          <a:noFill/>
        </p:spPr>
        <p:txBody>
          <a:bodyPr wrap="square" rtlCol="0">
            <a:spAutoFit/>
          </a:bodyPr>
          <a:lstStyle/>
          <a:p>
            <a:pPr marL="285750" indent="-285750">
              <a:buFont typeface="Arial" panose="020B0604020202020204" pitchFamily="34" charset="0"/>
              <a:buChar char="•"/>
            </a:pPr>
            <a:r>
              <a:rPr lang="en-GB" sz="1400" dirty="0">
                <a:latin typeface="Retro Gaming" panose="00000400000000000000" pitchFamily="2" charset="0"/>
              </a:rPr>
              <a:t>Python (OOP, Libraries)</a:t>
            </a:r>
          </a:p>
          <a:p>
            <a:pPr marL="285750" indent="-285750">
              <a:buFont typeface="Arial" panose="020B0604020202020204" pitchFamily="34" charset="0"/>
              <a:buChar char="•"/>
            </a:pPr>
            <a:r>
              <a:rPr lang="en-GB" sz="1400" dirty="0">
                <a:latin typeface="Retro Gaming" panose="00000400000000000000" pitchFamily="2" charset="0"/>
              </a:rPr>
              <a:t>SQL (Relational databases) </a:t>
            </a:r>
          </a:p>
          <a:p>
            <a:pPr marL="285750" indent="-285750">
              <a:buFont typeface="Arial" panose="020B0604020202020204" pitchFamily="34" charset="0"/>
              <a:buChar char="•"/>
            </a:pPr>
            <a:endParaRPr lang="en-GB" sz="1400" dirty="0">
              <a:latin typeface="Retro Gaming" panose="00000400000000000000" pitchFamily="2" charset="0"/>
            </a:endParaRPr>
          </a:p>
          <a:p>
            <a:pPr marL="285750" indent="-285750">
              <a:buFont typeface="Arial" panose="020B0604020202020204" pitchFamily="34" charset="0"/>
              <a:buChar char="•"/>
            </a:pPr>
            <a:endParaRPr lang="en-GB" sz="1400" dirty="0">
              <a:latin typeface="Retro Gaming" panose="00000400000000000000" pitchFamily="2" charset="0"/>
            </a:endParaRPr>
          </a:p>
          <a:p>
            <a:pPr marL="285750" indent="-285750">
              <a:buFont typeface="Arial" panose="020B0604020202020204" pitchFamily="34" charset="0"/>
              <a:buChar char="•"/>
            </a:pPr>
            <a:endParaRPr lang="en-GB" sz="1400" dirty="0">
              <a:latin typeface="Retro Gaming" panose="00000400000000000000" pitchFamily="2" charset="0"/>
            </a:endParaRPr>
          </a:p>
        </p:txBody>
      </p:sp>
      <p:sp>
        <p:nvSpPr>
          <p:cNvPr id="19" name="TextBox 18">
            <a:extLst>
              <a:ext uri="{FF2B5EF4-FFF2-40B4-BE49-F238E27FC236}">
                <a16:creationId xmlns:a16="http://schemas.microsoft.com/office/drawing/2014/main" id="{2370C4F7-492B-7B30-ED95-63C7DE043CB9}"/>
              </a:ext>
            </a:extLst>
          </p:cNvPr>
          <p:cNvSpPr txBox="1"/>
          <p:nvPr/>
        </p:nvSpPr>
        <p:spPr>
          <a:xfrm>
            <a:off x="8072180" y="3075301"/>
            <a:ext cx="4078940" cy="369332"/>
          </a:xfrm>
          <a:prstGeom prst="rect">
            <a:avLst/>
          </a:prstGeom>
          <a:noFill/>
        </p:spPr>
        <p:txBody>
          <a:bodyPr wrap="square" rtlCol="0">
            <a:spAutoFit/>
          </a:bodyPr>
          <a:lstStyle/>
          <a:p>
            <a:pPr algn="ctr"/>
            <a:r>
              <a:rPr lang="en-GB" b="1" dirty="0">
                <a:effectLst>
                  <a:outerShdw blurRad="38100" dist="38100" dir="2700000" algn="tl">
                    <a:srgbClr val="000000">
                      <a:alpha val="43137"/>
                    </a:srgbClr>
                  </a:outerShdw>
                </a:effectLst>
                <a:latin typeface="Retro Gaming" panose="00000400000000000000" pitchFamily="2" charset="0"/>
              </a:rPr>
              <a:t>Modules</a:t>
            </a:r>
          </a:p>
        </p:txBody>
      </p:sp>
      <p:sp>
        <p:nvSpPr>
          <p:cNvPr id="20" name="TextBox 19">
            <a:extLst>
              <a:ext uri="{FF2B5EF4-FFF2-40B4-BE49-F238E27FC236}">
                <a16:creationId xmlns:a16="http://schemas.microsoft.com/office/drawing/2014/main" id="{15D48034-4CA8-9B17-54F5-65FEAAF0A00E}"/>
              </a:ext>
            </a:extLst>
          </p:cNvPr>
          <p:cNvSpPr txBox="1"/>
          <p:nvPr/>
        </p:nvSpPr>
        <p:spPr>
          <a:xfrm>
            <a:off x="8520414" y="3493802"/>
            <a:ext cx="3182471" cy="2246769"/>
          </a:xfrm>
          <a:prstGeom prst="rect">
            <a:avLst/>
          </a:prstGeom>
          <a:noFill/>
        </p:spPr>
        <p:txBody>
          <a:bodyPr wrap="square" rtlCol="0">
            <a:spAutoFit/>
          </a:bodyPr>
          <a:lstStyle/>
          <a:p>
            <a:pPr marL="285750" indent="-285750">
              <a:buFont typeface="Arial" panose="020B0604020202020204" pitchFamily="34" charset="0"/>
              <a:buChar char="•"/>
            </a:pPr>
            <a:r>
              <a:rPr lang="en-GB" sz="1400" dirty="0">
                <a:latin typeface="Retro Gaming" panose="00000400000000000000" pitchFamily="2" charset="0"/>
              </a:rPr>
              <a:t>PyGame (Game engine)</a:t>
            </a:r>
          </a:p>
          <a:p>
            <a:pPr marL="285750" indent="-285750">
              <a:buFont typeface="Arial" panose="020B0604020202020204" pitchFamily="34" charset="0"/>
              <a:buChar char="•"/>
            </a:pPr>
            <a:r>
              <a:rPr lang="en-GB" sz="1400" dirty="0">
                <a:latin typeface="Retro Gaming" panose="00000400000000000000" pitchFamily="2" charset="0"/>
              </a:rPr>
              <a:t>Pickle (Store list elements)</a:t>
            </a:r>
          </a:p>
          <a:p>
            <a:pPr marL="285750" indent="-285750">
              <a:buFont typeface="Arial" panose="020B0604020202020204" pitchFamily="34" charset="0"/>
              <a:buChar char="•"/>
            </a:pPr>
            <a:r>
              <a:rPr lang="en-GB" sz="1400" dirty="0">
                <a:latin typeface="Retro Gaming" panose="00000400000000000000" pitchFamily="2" charset="0"/>
              </a:rPr>
              <a:t>SQLlite3 (Relational databases) </a:t>
            </a:r>
          </a:p>
          <a:p>
            <a:pPr marL="285750" indent="-285750">
              <a:buFont typeface="Arial" panose="020B0604020202020204" pitchFamily="34" charset="0"/>
              <a:buChar char="•"/>
            </a:pPr>
            <a:r>
              <a:rPr lang="en-GB" sz="1400" dirty="0">
                <a:latin typeface="Retro Gaming" panose="00000400000000000000" pitchFamily="2" charset="0"/>
              </a:rPr>
              <a:t>Logger (Testing)</a:t>
            </a:r>
          </a:p>
          <a:p>
            <a:pPr marL="285750" indent="-285750">
              <a:buFont typeface="Arial" panose="020B0604020202020204" pitchFamily="34" charset="0"/>
              <a:buChar char="•"/>
            </a:pPr>
            <a:endParaRPr lang="en-GB" sz="1400" dirty="0">
              <a:latin typeface="Retro Gaming" panose="00000400000000000000" pitchFamily="2" charset="0"/>
            </a:endParaRPr>
          </a:p>
          <a:p>
            <a:pPr marL="285750" indent="-285750">
              <a:buFont typeface="Arial" panose="020B0604020202020204" pitchFamily="34" charset="0"/>
              <a:buChar char="•"/>
            </a:pPr>
            <a:endParaRPr lang="en-GB" sz="1400" dirty="0">
              <a:latin typeface="Retro Gaming" panose="00000400000000000000" pitchFamily="2" charset="0"/>
            </a:endParaRPr>
          </a:p>
          <a:p>
            <a:pPr marL="285750" indent="-285750">
              <a:buFont typeface="Arial" panose="020B0604020202020204" pitchFamily="34" charset="0"/>
              <a:buChar char="•"/>
            </a:pPr>
            <a:endParaRPr lang="en-GB" sz="1400" dirty="0">
              <a:latin typeface="Retro Gaming" panose="00000400000000000000" pitchFamily="2" charset="0"/>
            </a:endParaRPr>
          </a:p>
          <a:p>
            <a:pPr marL="285750" indent="-285750">
              <a:buFont typeface="Arial" panose="020B0604020202020204" pitchFamily="34" charset="0"/>
              <a:buChar char="•"/>
            </a:pPr>
            <a:endParaRPr lang="en-GB" sz="1400" dirty="0">
              <a:latin typeface="Retro Gaming" panose="00000400000000000000" pitchFamily="2" charset="0"/>
            </a:endParaRPr>
          </a:p>
        </p:txBody>
      </p:sp>
      <p:sp>
        <p:nvSpPr>
          <p:cNvPr id="21" name="TextBox 20">
            <a:extLst>
              <a:ext uri="{FF2B5EF4-FFF2-40B4-BE49-F238E27FC236}">
                <a16:creationId xmlns:a16="http://schemas.microsoft.com/office/drawing/2014/main" id="{0C384EB2-4B8A-8408-9D2E-BC09705F7A37}"/>
              </a:ext>
            </a:extLst>
          </p:cNvPr>
          <p:cNvSpPr txBox="1"/>
          <p:nvPr/>
        </p:nvSpPr>
        <p:spPr>
          <a:xfrm>
            <a:off x="259059" y="3572695"/>
            <a:ext cx="6360188" cy="1200329"/>
          </a:xfrm>
          <a:prstGeom prst="rect">
            <a:avLst/>
          </a:prstGeom>
          <a:noFill/>
          <a:ln>
            <a:noFill/>
          </a:ln>
          <a:effectLst/>
          <a:scene3d>
            <a:camera prst="orthographicFront">
              <a:rot lat="0" lon="0" rev="0"/>
            </a:camera>
            <a:lightRig rig="chilly" dir="t">
              <a:rot lat="0" lon="0" rev="18480000"/>
            </a:lightRig>
          </a:scene3d>
          <a:sp3d prstMaterial="clear">
            <a:bevelT h="63500"/>
          </a:sp3d>
        </p:spPr>
        <p:txBody>
          <a:bodyPr wrap="square" rtlCol="0">
            <a:spAutoFit/>
          </a:bodyPr>
          <a:lstStyle/>
          <a:p>
            <a:r>
              <a:rPr lang="en-GB" dirty="0">
                <a:latin typeface="Retro Gaming" panose="00000400000000000000" pitchFamily="2" charset="0"/>
              </a:rPr>
              <a:t>This allows us to create separate tables within a database to store everything from username, passwords, coins, strokes and unlocked skins</a:t>
            </a:r>
          </a:p>
        </p:txBody>
      </p:sp>
    </p:spTree>
    <p:extLst>
      <p:ext uri="{BB962C8B-B14F-4D97-AF65-F5344CB8AC3E}">
        <p14:creationId xmlns:p14="http://schemas.microsoft.com/office/powerpoint/2010/main" val="3350031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500" fill="hold"/>
                                        <p:tgtEl>
                                          <p:spTgt spid="21"/>
                                        </p:tgtEl>
                                        <p:attrNameLst>
                                          <p:attrName>ppt_x</p:attrName>
                                        </p:attrNameLst>
                                      </p:cBhvr>
                                      <p:tavLst>
                                        <p:tav tm="0">
                                          <p:val>
                                            <p:strVal val="#ppt_x"/>
                                          </p:val>
                                        </p:tav>
                                        <p:tav tm="100000">
                                          <p:val>
                                            <p:strVal val="#ppt_x"/>
                                          </p:val>
                                        </p:tav>
                                      </p:tavLst>
                                    </p:anim>
                                    <p:anim calcmode="lin" valueType="num">
                                      <p:cBhvr additive="base">
                                        <p:cTn id="1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26947003-E41F-C2B7-7C9E-F16490B4F03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B4674A6-FC4C-A11A-13D8-F43BE2D5112B}"/>
              </a:ext>
            </a:extLst>
          </p:cNvPr>
          <p:cNvSpPr>
            <a:spLocks noGrp="1"/>
          </p:cNvSpPr>
          <p:nvPr>
            <p:ph type="ftr" sz="quarter" idx="11"/>
          </p:nvPr>
        </p:nvSpPr>
        <p:spPr>
          <a:xfrm>
            <a:off x="1306046" y="151745"/>
            <a:ext cx="3199637" cy="654633"/>
          </a:xfrm>
          <a:noFill/>
          <a:ln>
            <a:solidFill>
              <a:schemeClr val="bg1"/>
            </a:solidFill>
          </a:ln>
        </p:spPr>
        <p:txBody>
          <a:bodyPr/>
          <a:lstStyle/>
          <a:p>
            <a:pPr algn="ctr"/>
            <a:r>
              <a:rPr lang="en-US" sz="2800" dirty="0">
                <a:latin typeface="Retro Gaming" panose="00000400000000000000" pitchFamily="2" charset="0"/>
              </a:rPr>
              <a:t>GAMEPLAY</a:t>
            </a:r>
          </a:p>
        </p:txBody>
      </p:sp>
      <p:sp>
        <p:nvSpPr>
          <p:cNvPr id="8" name="TextBox 7">
            <a:extLst>
              <a:ext uri="{FF2B5EF4-FFF2-40B4-BE49-F238E27FC236}">
                <a16:creationId xmlns:a16="http://schemas.microsoft.com/office/drawing/2014/main" id="{8131B07E-0043-3F8D-0678-D9D3E823D2F1}"/>
              </a:ext>
            </a:extLst>
          </p:cNvPr>
          <p:cNvSpPr txBox="1"/>
          <p:nvPr/>
        </p:nvSpPr>
        <p:spPr>
          <a:xfrm>
            <a:off x="415843" y="806378"/>
            <a:ext cx="4980041" cy="923330"/>
          </a:xfrm>
          <a:prstGeom prst="rect">
            <a:avLst/>
          </a:prstGeom>
          <a:noFill/>
        </p:spPr>
        <p:txBody>
          <a:bodyPr wrap="square" rtlCol="0">
            <a:spAutoFit/>
          </a:bodyPr>
          <a:lstStyle/>
          <a:p>
            <a:pPr marL="285750" indent="-285750" algn="just">
              <a:buFont typeface="Arial" panose="020B0604020202020204" pitchFamily="34" charset="0"/>
              <a:buChar char="•"/>
            </a:pPr>
            <a:r>
              <a:rPr lang="en-GB" dirty="0">
                <a:latin typeface="+mj-lt"/>
              </a:rPr>
              <a:t>Depending on the game mode, the player will either play either three, five pre-selected levels or one random level  </a:t>
            </a:r>
          </a:p>
        </p:txBody>
      </p:sp>
      <p:pic>
        <p:nvPicPr>
          <p:cNvPr id="14" name="Picture 13">
            <a:extLst>
              <a:ext uri="{FF2B5EF4-FFF2-40B4-BE49-F238E27FC236}">
                <a16:creationId xmlns:a16="http://schemas.microsoft.com/office/drawing/2014/main" id="{673DDBAA-DB49-035B-EF9D-6A3928F94F83}"/>
              </a:ext>
            </a:extLst>
          </p:cNvPr>
          <p:cNvPicPr>
            <a:picLocks noChangeAspect="1"/>
          </p:cNvPicPr>
          <p:nvPr/>
        </p:nvPicPr>
        <p:blipFill rotWithShape="1">
          <a:blip r:embed="rId2">
            <a:extLst>
              <a:ext uri="{28A0092B-C50C-407E-A947-70E740481C1C}">
                <a14:useLocalDpi xmlns:a14="http://schemas.microsoft.com/office/drawing/2010/main" val="0"/>
              </a:ext>
            </a:extLst>
          </a:blip>
          <a:srcRect t="3180" b="3180"/>
          <a:stretch/>
        </p:blipFill>
        <p:spPr>
          <a:xfrm>
            <a:off x="6105946" y="-9511"/>
            <a:ext cx="6086054" cy="3438511"/>
          </a:xfrm>
          <a:prstGeom prst="rect">
            <a:avLst/>
          </a:prstGeom>
        </p:spPr>
      </p:pic>
      <p:sp>
        <p:nvSpPr>
          <p:cNvPr id="26" name="TextBox 25">
            <a:extLst>
              <a:ext uri="{FF2B5EF4-FFF2-40B4-BE49-F238E27FC236}">
                <a16:creationId xmlns:a16="http://schemas.microsoft.com/office/drawing/2014/main" id="{1E9DEDE4-EE23-2AA8-99AE-87DEC8AD4416}"/>
              </a:ext>
            </a:extLst>
          </p:cNvPr>
          <p:cNvSpPr txBox="1"/>
          <p:nvPr/>
        </p:nvSpPr>
        <p:spPr>
          <a:xfrm>
            <a:off x="415843" y="1922676"/>
            <a:ext cx="4980041" cy="923330"/>
          </a:xfrm>
          <a:prstGeom prst="rect">
            <a:avLst/>
          </a:prstGeom>
          <a:noFill/>
        </p:spPr>
        <p:txBody>
          <a:bodyPr wrap="square" rtlCol="0">
            <a:spAutoFit/>
          </a:bodyPr>
          <a:lstStyle/>
          <a:p>
            <a:pPr marL="285750" indent="-285750" algn="just">
              <a:buFont typeface="Arial" panose="020B0604020202020204" pitchFamily="34" charset="0"/>
              <a:buChar char="•"/>
            </a:pPr>
            <a:r>
              <a:rPr lang="en-GB" dirty="0">
                <a:latin typeface="+mj-lt"/>
              </a:rPr>
              <a:t>Once mode selected. The player will spawn at the starting point of the level. Each level will have between 3-5 holes, which user need to hit</a:t>
            </a:r>
          </a:p>
        </p:txBody>
      </p:sp>
      <p:pic>
        <p:nvPicPr>
          <p:cNvPr id="30" name="Picture 29">
            <a:extLst>
              <a:ext uri="{FF2B5EF4-FFF2-40B4-BE49-F238E27FC236}">
                <a16:creationId xmlns:a16="http://schemas.microsoft.com/office/drawing/2014/main" id="{14691A04-2465-16BA-917D-CA95139F78E2}"/>
              </a:ext>
            </a:extLst>
          </p:cNvPr>
          <p:cNvPicPr>
            <a:picLocks noChangeAspect="1"/>
          </p:cNvPicPr>
          <p:nvPr/>
        </p:nvPicPr>
        <p:blipFill rotWithShape="1">
          <a:blip r:embed="rId3"/>
          <a:srcRect r="4357"/>
          <a:stretch/>
        </p:blipFill>
        <p:spPr>
          <a:xfrm>
            <a:off x="6105946" y="3285018"/>
            <a:ext cx="6086054" cy="3572981"/>
          </a:xfrm>
          <a:prstGeom prst="rect">
            <a:avLst/>
          </a:prstGeom>
        </p:spPr>
      </p:pic>
      <p:sp>
        <p:nvSpPr>
          <p:cNvPr id="32" name="TextBox 31">
            <a:extLst>
              <a:ext uri="{FF2B5EF4-FFF2-40B4-BE49-F238E27FC236}">
                <a16:creationId xmlns:a16="http://schemas.microsoft.com/office/drawing/2014/main" id="{4B9F3F7A-87EF-E0EF-6656-001526338A13}"/>
              </a:ext>
            </a:extLst>
          </p:cNvPr>
          <p:cNvSpPr txBox="1"/>
          <p:nvPr/>
        </p:nvSpPr>
        <p:spPr>
          <a:xfrm>
            <a:off x="415842" y="3038974"/>
            <a:ext cx="4980041" cy="1200329"/>
          </a:xfrm>
          <a:prstGeom prst="rect">
            <a:avLst/>
          </a:prstGeom>
          <a:noFill/>
        </p:spPr>
        <p:txBody>
          <a:bodyPr wrap="square" rtlCol="0">
            <a:spAutoFit/>
          </a:bodyPr>
          <a:lstStyle/>
          <a:p>
            <a:pPr marL="285750" indent="-285750" algn="just">
              <a:buFont typeface="Arial" panose="020B0604020202020204" pitchFamily="34" charset="0"/>
              <a:buChar char="•"/>
            </a:pPr>
            <a:r>
              <a:rPr lang="en-GB" dirty="0">
                <a:latin typeface="+mj-lt"/>
              </a:rPr>
              <a:t>The game uses an algorithms based on total strokes and time to calculate a score. The higher the amount strokes and time, the worse the score. </a:t>
            </a:r>
          </a:p>
        </p:txBody>
      </p:sp>
      <p:sp>
        <p:nvSpPr>
          <p:cNvPr id="34" name="TextBox 33">
            <a:extLst>
              <a:ext uri="{FF2B5EF4-FFF2-40B4-BE49-F238E27FC236}">
                <a16:creationId xmlns:a16="http://schemas.microsoft.com/office/drawing/2014/main" id="{EB964FF6-7214-DB93-59FB-20675083CAEA}"/>
              </a:ext>
            </a:extLst>
          </p:cNvPr>
          <p:cNvSpPr txBox="1"/>
          <p:nvPr/>
        </p:nvSpPr>
        <p:spPr>
          <a:xfrm>
            <a:off x="415841" y="4432271"/>
            <a:ext cx="4980041" cy="646331"/>
          </a:xfrm>
          <a:prstGeom prst="rect">
            <a:avLst/>
          </a:prstGeom>
          <a:noFill/>
        </p:spPr>
        <p:txBody>
          <a:bodyPr wrap="square" rtlCol="0">
            <a:spAutoFit/>
          </a:bodyPr>
          <a:lstStyle/>
          <a:p>
            <a:pPr marL="285750" indent="-285750" algn="just">
              <a:buFont typeface="Arial" panose="020B0604020202020204" pitchFamily="34" charset="0"/>
              <a:buChar char="•"/>
            </a:pPr>
            <a:r>
              <a:rPr lang="en-GB" dirty="0">
                <a:latin typeface="+mj-lt"/>
              </a:rPr>
              <a:t>Before player shoots, they allowed to look around the level</a:t>
            </a:r>
          </a:p>
        </p:txBody>
      </p:sp>
      <p:sp>
        <p:nvSpPr>
          <p:cNvPr id="36" name="TextBox 35">
            <a:extLst>
              <a:ext uri="{FF2B5EF4-FFF2-40B4-BE49-F238E27FC236}">
                <a16:creationId xmlns:a16="http://schemas.microsoft.com/office/drawing/2014/main" id="{AB28696B-9D9C-F72B-3EFA-9DCF2E7A0A94}"/>
              </a:ext>
            </a:extLst>
          </p:cNvPr>
          <p:cNvSpPr txBox="1"/>
          <p:nvPr/>
        </p:nvSpPr>
        <p:spPr>
          <a:xfrm>
            <a:off x="415840" y="5271570"/>
            <a:ext cx="4980041" cy="1200329"/>
          </a:xfrm>
          <a:prstGeom prst="rect">
            <a:avLst/>
          </a:prstGeom>
          <a:noFill/>
        </p:spPr>
        <p:txBody>
          <a:bodyPr wrap="square" rtlCol="0">
            <a:spAutoFit/>
          </a:bodyPr>
          <a:lstStyle/>
          <a:p>
            <a:pPr marL="285750" indent="-285750" algn="just">
              <a:buFont typeface="Arial" panose="020B0604020202020204" pitchFamily="34" charset="0"/>
              <a:buChar char="•"/>
            </a:pPr>
            <a:r>
              <a:rPr lang="en-GB" dirty="0">
                <a:latin typeface="+mj-lt"/>
              </a:rPr>
              <a:t>Once ready, press enter to lock and centre camera onto ball. After the game will allow you to select ball speed and angle dependent on the cursor position. To shoot right click</a:t>
            </a:r>
          </a:p>
        </p:txBody>
      </p:sp>
    </p:spTree>
    <p:extLst>
      <p:ext uri="{BB962C8B-B14F-4D97-AF65-F5344CB8AC3E}">
        <p14:creationId xmlns:p14="http://schemas.microsoft.com/office/powerpoint/2010/main" val="1039249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0BF4E760-5C25-0206-86AB-31985C55876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6720975-FC69-C147-7C17-69278D3D8D6B}"/>
              </a:ext>
            </a:extLst>
          </p:cNvPr>
          <p:cNvSpPr>
            <a:spLocks noGrp="1"/>
          </p:cNvSpPr>
          <p:nvPr>
            <p:ph type="ftr" sz="quarter" idx="11"/>
          </p:nvPr>
        </p:nvSpPr>
        <p:spPr>
          <a:xfrm>
            <a:off x="1306046" y="151745"/>
            <a:ext cx="3199637" cy="654633"/>
          </a:xfrm>
          <a:noFill/>
          <a:ln>
            <a:solidFill>
              <a:schemeClr val="bg1"/>
            </a:solidFill>
          </a:ln>
        </p:spPr>
        <p:txBody>
          <a:bodyPr/>
          <a:lstStyle/>
          <a:p>
            <a:pPr algn="ctr"/>
            <a:r>
              <a:rPr lang="en-US" sz="2800" dirty="0">
                <a:latin typeface="Retro Gaming" panose="00000400000000000000" pitchFamily="2" charset="0"/>
              </a:rPr>
              <a:t>GAMEPLAY</a:t>
            </a:r>
          </a:p>
        </p:txBody>
      </p:sp>
      <p:sp>
        <p:nvSpPr>
          <p:cNvPr id="8" name="TextBox 7">
            <a:extLst>
              <a:ext uri="{FF2B5EF4-FFF2-40B4-BE49-F238E27FC236}">
                <a16:creationId xmlns:a16="http://schemas.microsoft.com/office/drawing/2014/main" id="{375CDB7D-19F7-A051-411D-3C5061F81183}"/>
              </a:ext>
            </a:extLst>
          </p:cNvPr>
          <p:cNvSpPr txBox="1"/>
          <p:nvPr/>
        </p:nvSpPr>
        <p:spPr>
          <a:xfrm>
            <a:off x="415843" y="806378"/>
            <a:ext cx="4980041" cy="646331"/>
          </a:xfrm>
          <a:prstGeom prst="rect">
            <a:avLst/>
          </a:prstGeom>
          <a:noFill/>
        </p:spPr>
        <p:txBody>
          <a:bodyPr wrap="square" rtlCol="0">
            <a:spAutoFit/>
          </a:bodyPr>
          <a:lstStyle/>
          <a:p>
            <a:pPr marL="285750" indent="-285750" algn="just">
              <a:buFont typeface="Arial" panose="020B0604020202020204" pitchFamily="34" charset="0"/>
              <a:buChar char="•"/>
            </a:pPr>
            <a:r>
              <a:rPr lang="en-GB" dirty="0">
                <a:latin typeface="+mj-lt"/>
              </a:rPr>
              <a:t>After each shot player allowed to repeat last few steps and prepare their next shot</a:t>
            </a:r>
          </a:p>
        </p:txBody>
      </p:sp>
      <p:pic>
        <p:nvPicPr>
          <p:cNvPr id="24" name="Picture 23">
            <a:extLst>
              <a:ext uri="{FF2B5EF4-FFF2-40B4-BE49-F238E27FC236}">
                <a16:creationId xmlns:a16="http://schemas.microsoft.com/office/drawing/2014/main" id="{17364D1D-2AD8-7331-A513-6E0D0E163F1A}"/>
              </a:ext>
            </a:extLst>
          </p:cNvPr>
          <p:cNvPicPr>
            <a:picLocks noChangeAspect="1"/>
          </p:cNvPicPr>
          <p:nvPr/>
        </p:nvPicPr>
        <p:blipFill rotWithShape="1">
          <a:blip r:embed="rId2"/>
          <a:srcRect r="7470" b="3159"/>
          <a:stretch/>
        </p:blipFill>
        <p:spPr>
          <a:xfrm>
            <a:off x="6105946" y="0"/>
            <a:ext cx="6086054" cy="3572982"/>
          </a:xfrm>
          <a:prstGeom prst="rect">
            <a:avLst/>
          </a:prstGeom>
        </p:spPr>
      </p:pic>
      <p:sp>
        <p:nvSpPr>
          <p:cNvPr id="26" name="TextBox 25">
            <a:extLst>
              <a:ext uri="{FF2B5EF4-FFF2-40B4-BE49-F238E27FC236}">
                <a16:creationId xmlns:a16="http://schemas.microsoft.com/office/drawing/2014/main" id="{BE6B8C84-49DA-B342-98AF-295ED1B53D58}"/>
              </a:ext>
            </a:extLst>
          </p:cNvPr>
          <p:cNvSpPr txBox="1"/>
          <p:nvPr/>
        </p:nvSpPr>
        <p:spPr>
          <a:xfrm>
            <a:off x="415842" y="1786491"/>
            <a:ext cx="4980041" cy="646331"/>
          </a:xfrm>
          <a:prstGeom prst="rect">
            <a:avLst/>
          </a:prstGeom>
          <a:noFill/>
        </p:spPr>
        <p:txBody>
          <a:bodyPr wrap="square" rtlCol="0">
            <a:spAutoFit/>
          </a:bodyPr>
          <a:lstStyle/>
          <a:p>
            <a:pPr marL="285750" indent="-285750" algn="just">
              <a:buFont typeface="Arial" panose="020B0604020202020204" pitchFamily="34" charset="0"/>
              <a:buChar char="•"/>
            </a:pPr>
            <a:r>
              <a:rPr lang="en-GB" dirty="0">
                <a:latin typeface="+mj-lt"/>
              </a:rPr>
              <a:t>Once ball  has gone into the hole, the ball set back spawn and the level keeps going</a:t>
            </a:r>
          </a:p>
        </p:txBody>
      </p:sp>
      <p:pic>
        <p:nvPicPr>
          <p:cNvPr id="4" name="Picture 3">
            <a:extLst>
              <a:ext uri="{FF2B5EF4-FFF2-40B4-BE49-F238E27FC236}">
                <a16:creationId xmlns:a16="http://schemas.microsoft.com/office/drawing/2014/main" id="{90D5A7D8-6E9A-B991-4543-26A894E09CC3}"/>
              </a:ext>
            </a:extLst>
          </p:cNvPr>
          <p:cNvPicPr>
            <a:picLocks noChangeAspect="1"/>
          </p:cNvPicPr>
          <p:nvPr/>
        </p:nvPicPr>
        <p:blipFill rotWithShape="1">
          <a:blip r:embed="rId3"/>
          <a:srcRect l="162" t="-400" b="4341"/>
          <a:stretch/>
        </p:blipFill>
        <p:spPr>
          <a:xfrm>
            <a:off x="6105946" y="3572981"/>
            <a:ext cx="6086054" cy="3285019"/>
          </a:xfrm>
          <a:prstGeom prst="rect">
            <a:avLst/>
          </a:prstGeom>
        </p:spPr>
      </p:pic>
      <p:sp>
        <p:nvSpPr>
          <p:cNvPr id="7" name="TextBox 6">
            <a:extLst>
              <a:ext uri="{FF2B5EF4-FFF2-40B4-BE49-F238E27FC236}">
                <a16:creationId xmlns:a16="http://schemas.microsoft.com/office/drawing/2014/main" id="{71427E23-860A-3742-AF3B-4D41501BC77A}"/>
              </a:ext>
            </a:extLst>
          </p:cNvPr>
          <p:cNvSpPr txBox="1"/>
          <p:nvPr/>
        </p:nvSpPr>
        <p:spPr>
          <a:xfrm>
            <a:off x="415842" y="2766604"/>
            <a:ext cx="4980041" cy="646331"/>
          </a:xfrm>
          <a:prstGeom prst="rect">
            <a:avLst/>
          </a:prstGeom>
          <a:noFill/>
        </p:spPr>
        <p:txBody>
          <a:bodyPr wrap="square" rtlCol="0">
            <a:spAutoFit/>
          </a:bodyPr>
          <a:lstStyle/>
          <a:p>
            <a:pPr marL="285750" indent="-285750" algn="just">
              <a:buFont typeface="Arial" panose="020B0604020202020204" pitchFamily="34" charset="0"/>
              <a:buChar char="•"/>
            </a:pPr>
            <a:r>
              <a:rPr lang="en-GB" dirty="0">
                <a:latin typeface="+mj-lt"/>
              </a:rPr>
              <a:t>If all holes have been entered, the strokes and time are saved, and the next level loaded</a:t>
            </a:r>
          </a:p>
        </p:txBody>
      </p:sp>
    </p:spTree>
    <p:extLst>
      <p:ext uri="{BB962C8B-B14F-4D97-AF65-F5344CB8AC3E}">
        <p14:creationId xmlns:p14="http://schemas.microsoft.com/office/powerpoint/2010/main" val="3519166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E4002D21-939E-9985-0CAC-DC2838315F3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834146B-AED7-B5B4-6AF7-DE9C7D7ACDD7}"/>
              </a:ext>
            </a:extLst>
          </p:cNvPr>
          <p:cNvSpPr>
            <a:spLocks noGrp="1"/>
          </p:cNvSpPr>
          <p:nvPr>
            <p:ph type="ftr" sz="quarter" idx="11"/>
          </p:nvPr>
        </p:nvSpPr>
        <p:spPr>
          <a:xfrm>
            <a:off x="724738" y="151745"/>
            <a:ext cx="4362248" cy="654633"/>
          </a:xfrm>
          <a:noFill/>
          <a:ln>
            <a:solidFill>
              <a:schemeClr val="bg1"/>
            </a:solidFill>
          </a:ln>
        </p:spPr>
        <p:txBody>
          <a:bodyPr/>
          <a:lstStyle/>
          <a:p>
            <a:pPr algn="ctr"/>
            <a:r>
              <a:rPr lang="en-US" sz="2800" dirty="0">
                <a:latin typeface="Retro Gaming" panose="00000400000000000000" pitchFamily="2" charset="0"/>
              </a:rPr>
              <a:t>CREATE ACCOUNT</a:t>
            </a:r>
          </a:p>
        </p:txBody>
      </p:sp>
      <p:pic>
        <p:nvPicPr>
          <p:cNvPr id="24" name="Picture 23">
            <a:extLst>
              <a:ext uri="{FF2B5EF4-FFF2-40B4-BE49-F238E27FC236}">
                <a16:creationId xmlns:a16="http://schemas.microsoft.com/office/drawing/2014/main" id="{8DAC151A-2D8E-D9DC-767D-78F1E36F9067}"/>
              </a:ext>
            </a:extLst>
          </p:cNvPr>
          <p:cNvPicPr>
            <a:picLocks noChangeAspect="1"/>
          </p:cNvPicPr>
          <p:nvPr/>
        </p:nvPicPr>
        <p:blipFill rotWithShape="1">
          <a:blip r:embed="rId2">
            <a:extLst>
              <a:ext uri="{28A0092B-C50C-407E-A947-70E740481C1C}">
                <a14:useLocalDpi xmlns:a14="http://schemas.microsoft.com/office/drawing/2010/main" val="0"/>
              </a:ext>
            </a:extLst>
          </a:blip>
          <a:srcRect l="2152" r="2152"/>
          <a:stretch/>
        </p:blipFill>
        <p:spPr>
          <a:xfrm>
            <a:off x="6105946" y="0"/>
            <a:ext cx="6086054" cy="3572982"/>
          </a:xfrm>
          <a:prstGeom prst="rect">
            <a:avLst/>
          </a:prstGeom>
        </p:spPr>
      </p:pic>
      <p:sp>
        <p:nvSpPr>
          <p:cNvPr id="26" name="TextBox 25">
            <a:extLst>
              <a:ext uri="{FF2B5EF4-FFF2-40B4-BE49-F238E27FC236}">
                <a16:creationId xmlns:a16="http://schemas.microsoft.com/office/drawing/2014/main" id="{642B1F49-3099-2CF2-E385-AE8ACD25668C}"/>
              </a:ext>
            </a:extLst>
          </p:cNvPr>
          <p:cNvSpPr txBox="1"/>
          <p:nvPr/>
        </p:nvSpPr>
        <p:spPr>
          <a:xfrm>
            <a:off x="415841" y="806378"/>
            <a:ext cx="4980041" cy="1200329"/>
          </a:xfrm>
          <a:prstGeom prst="rect">
            <a:avLst/>
          </a:prstGeom>
          <a:noFill/>
        </p:spPr>
        <p:txBody>
          <a:bodyPr wrap="square" rtlCol="0">
            <a:spAutoFit/>
          </a:bodyPr>
          <a:lstStyle/>
          <a:p>
            <a:pPr marL="285750" indent="-285750" algn="just">
              <a:buFont typeface="Arial" panose="020B0604020202020204" pitchFamily="34" charset="0"/>
              <a:buChar char="•"/>
            </a:pPr>
            <a:r>
              <a:rPr lang="en-GB" dirty="0">
                <a:latin typeface="+mj-lt"/>
              </a:rPr>
              <a:t>Press sign up, then player allowed to type in username and password. Username and passwords are only allowed to max of 8 characters</a:t>
            </a:r>
          </a:p>
        </p:txBody>
      </p:sp>
      <p:pic>
        <p:nvPicPr>
          <p:cNvPr id="4" name="Picture 3">
            <a:extLst>
              <a:ext uri="{FF2B5EF4-FFF2-40B4-BE49-F238E27FC236}">
                <a16:creationId xmlns:a16="http://schemas.microsoft.com/office/drawing/2014/main" id="{3748ABEA-974C-7420-8DCC-4146D1A43F59}"/>
              </a:ext>
            </a:extLst>
          </p:cNvPr>
          <p:cNvPicPr>
            <a:picLocks noChangeAspect="1"/>
          </p:cNvPicPr>
          <p:nvPr/>
        </p:nvPicPr>
        <p:blipFill rotWithShape="1">
          <a:blip r:embed="rId3">
            <a:extLst>
              <a:ext uri="{28A0092B-C50C-407E-A947-70E740481C1C}">
                <a14:useLocalDpi xmlns:a14="http://schemas.microsoft.com/office/drawing/2010/main" val="0"/>
              </a:ext>
            </a:extLst>
          </a:blip>
          <a:srcRect t="4689" b="4689"/>
          <a:stretch/>
        </p:blipFill>
        <p:spPr>
          <a:xfrm>
            <a:off x="6105946" y="3572981"/>
            <a:ext cx="6086054" cy="3285019"/>
          </a:xfrm>
          <a:prstGeom prst="rect">
            <a:avLst/>
          </a:prstGeom>
        </p:spPr>
      </p:pic>
      <p:sp>
        <p:nvSpPr>
          <p:cNvPr id="7" name="TextBox 6">
            <a:extLst>
              <a:ext uri="{FF2B5EF4-FFF2-40B4-BE49-F238E27FC236}">
                <a16:creationId xmlns:a16="http://schemas.microsoft.com/office/drawing/2014/main" id="{4DCC5FBE-0179-6638-3B01-92417504D71E}"/>
              </a:ext>
            </a:extLst>
          </p:cNvPr>
          <p:cNvSpPr txBox="1"/>
          <p:nvPr/>
        </p:nvSpPr>
        <p:spPr>
          <a:xfrm>
            <a:off x="415841" y="2064113"/>
            <a:ext cx="4980041" cy="1200329"/>
          </a:xfrm>
          <a:prstGeom prst="rect">
            <a:avLst/>
          </a:prstGeom>
          <a:noFill/>
        </p:spPr>
        <p:txBody>
          <a:bodyPr wrap="square" rtlCol="0">
            <a:spAutoFit/>
          </a:bodyPr>
          <a:lstStyle/>
          <a:p>
            <a:pPr marL="285750" indent="-285750" algn="just">
              <a:buFont typeface="Arial" panose="020B0604020202020204" pitchFamily="34" charset="0"/>
              <a:buChar char="•"/>
            </a:pPr>
            <a:r>
              <a:rPr lang="en-GB" dirty="0">
                <a:latin typeface="+mj-lt"/>
              </a:rPr>
              <a:t>If username already taken it, the game will give you error. Else it store username and encrypt the password through XOR cipher and then Ceaser cipher, then store it</a:t>
            </a:r>
          </a:p>
        </p:txBody>
      </p:sp>
      <p:sp>
        <p:nvSpPr>
          <p:cNvPr id="2" name="Footer Placeholder 2">
            <a:extLst>
              <a:ext uri="{FF2B5EF4-FFF2-40B4-BE49-F238E27FC236}">
                <a16:creationId xmlns:a16="http://schemas.microsoft.com/office/drawing/2014/main" id="{6152CA02-BF13-3B34-1B66-EEB73091069C}"/>
              </a:ext>
            </a:extLst>
          </p:cNvPr>
          <p:cNvSpPr txBox="1">
            <a:spLocks/>
          </p:cNvSpPr>
          <p:nvPr/>
        </p:nvSpPr>
        <p:spPr>
          <a:xfrm>
            <a:off x="415841" y="3321849"/>
            <a:ext cx="4914062" cy="654633"/>
          </a:xfrm>
          <a:prstGeom prst="rect">
            <a:avLst/>
          </a:prstGeom>
          <a:noFill/>
          <a:ln>
            <a:solidFill>
              <a:schemeClr val="bg1"/>
            </a:solidFill>
          </a:ln>
        </p:spPr>
        <p:txBody>
          <a:bodyPr vert="horz" lIns="91440" tIns="45720" rIns="91440" bIns="45720" rtlCol="0" anchor="ctr"/>
          <a:lstStyle>
            <a:defPPr>
              <a:defRPr lang="en-US"/>
            </a:defPPr>
            <a:lvl1pPr marL="0" algn="l" defTabSz="914400" rtl="0" eaLnBrk="1" latinLnBrk="0" hangingPunct="1">
              <a:defRPr sz="105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800" dirty="0">
                <a:latin typeface="Retro Gaming" panose="00000400000000000000" pitchFamily="2" charset="0"/>
              </a:rPr>
              <a:t>LOGIN INTO ACCOUNT</a:t>
            </a:r>
          </a:p>
        </p:txBody>
      </p:sp>
      <p:sp>
        <p:nvSpPr>
          <p:cNvPr id="5" name="TextBox 4">
            <a:extLst>
              <a:ext uri="{FF2B5EF4-FFF2-40B4-BE49-F238E27FC236}">
                <a16:creationId xmlns:a16="http://schemas.microsoft.com/office/drawing/2014/main" id="{FD6366B0-8A6C-997C-BE26-A7AE8328CD20}"/>
              </a:ext>
            </a:extLst>
          </p:cNvPr>
          <p:cNvSpPr txBox="1"/>
          <p:nvPr/>
        </p:nvSpPr>
        <p:spPr>
          <a:xfrm>
            <a:off x="415841" y="4039536"/>
            <a:ext cx="4980041" cy="646331"/>
          </a:xfrm>
          <a:prstGeom prst="rect">
            <a:avLst/>
          </a:prstGeom>
          <a:noFill/>
        </p:spPr>
        <p:txBody>
          <a:bodyPr wrap="square" rtlCol="0">
            <a:spAutoFit/>
          </a:bodyPr>
          <a:lstStyle/>
          <a:p>
            <a:pPr marL="285750" indent="-285750" algn="just">
              <a:buFont typeface="Arial" panose="020B0604020202020204" pitchFamily="34" charset="0"/>
              <a:buChar char="•"/>
            </a:pPr>
            <a:r>
              <a:rPr lang="en-GB" dirty="0">
                <a:latin typeface="+mj-lt"/>
              </a:rPr>
              <a:t>Press login, the player allowed to type in username and password. </a:t>
            </a:r>
          </a:p>
        </p:txBody>
      </p:sp>
      <p:sp>
        <p:nvSpPr>
          <p:cNvPr id="6" name="TextBox 5">
            <a:extLst>
              <a:ext uri="{FF2B5EF4-FFF2-40B4-BE49-F238E27FC236}">
                <a16:creationId xmlns:a16="http://schemas.microsoft.com/office/drawing/2014/main" id="{E8DD7C20-191A-FAA6-B55C-3B358D445B4F}"/>
              </a:ext>
            </a:extLst>
          </p:cNvPr>
          <p:cNvSpPr txBox="1"/>
          <p:nvPr/>
        </p:nvSpPr>
        <p:spPr>
          <a:xfrm>
            <a:off x="415841" y="4999296"/>
            <a:ext cx="4980041" cy="646331"/>
          </a:xfrm>
          <a:prstGeom prst="rect">
            <a:avLst/>
          </a:prstGeom>
          <a:noFill/>
        </p:spPr>
        <p:txBody>
          <a:bodyPr wrap="square" rtlCol="0">
            <a:spAutoFit/>
          </a:bodyPr>
          <a:lstStyle/>
          <a:p>
            <a:pPr marL="285750" indent="-285750" algn="just">
              <a:buFont typeface="Arial" panose="020B0604020202020204" pitchFamily="34" charset="0"/>
              <a:buChar char="•"/>
            </a:pPr>
            <a:r>
              <a:rPr lang="en-GB" dirty="0">
                <a:latin typeface="+mj-lt"/>
              </a:rPr>
              <a:t>If correct, user logs into the account, else they given error message of what went wrong</a:t>
            </a:r>
          </a:p>
        </p:txBody>
      </p:sp>
    </p:spTree>
    <p:extLst>
      <p:ext uri="{BB962C8B-B14F-4D97-AF65-F5344CB8AC3E}">
        <p14:creationId xmlns:p14="http://schemas.microsoft.com/office/powerpoint/2010/main" val="12441121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5F7FDF55-328C-A163-59E1-59D3B08A700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264BAEB-8EAD-99F7-DC90-303FF6981710}"/>
              </a:ext>
            </a:extLst>
          </p:cNvPr>
          <p:cNvSpPr>
            <a:spLocks noGrp="1"/>
          </p:cNvSpPr>
          <p:nvPr>
            <p:ph type="ftr" sz="quarter" idx="11"/>
          </p:nvPr>
        </p:nvSpPr>
        <p:spPr>
          <a:xfrm>
            <a:off x="724738" y="151745"/>
            <a:ext cx="4362248" cy="654633"/>
          </a:xfrm>
          <a:noFill/>
          <a:ln>
            <a:solidFill>
              <a:schemeClr val="bg1"/>
            </a:solidFill>
          </a:ln>
        </p:spPr>
        <p:txBody>
          <a:bodyPr/>
          <a:lstStyle/>
          <a:p>
            <a:pPr algn="ctr"/>
            <a:r>
              <a:rPr lang="en-US" sz="2800" dirty="0">
                <a:latin typeface="Retro Gaming" panose="00000400000000000000" pitchFamily="2" charset="0"/>
              </a:rPr>
              <a:t>LEADERBOARD</a:t>
            </a:r>
          </a:p>
        </p:txBody>
      </p:sp>
      <p:pic>
        <p:nvPicPr>
          <p:cNvPr id="24" name="Picture 23">
            <a:extLst>
              <a:ext uri="{FF2B5EF4-FFF2-40B4-BE49-F238E27FC236}">
                <a16:creationId xmlns:a16="http://schemas.microsoft.com/office/drawing/2014/main" id="{193A71B0-6C63-34BB-7A83-847756C4B3BE}"/>
              </a:ext>
            </a:extLst>
          </p:cNvPr>
          <p:cNvPicPr>
            <a:picLocks noChangeAspect="1"/>
          </p:cNvPicPr>
          <p:nvPr/>
        </p:nvPicPr>
        <p:blipFill rotWithShape="1">
          <a:blip r:embed="rId2">
            <a:extLst>
              <a:ext uri="{28A0092B-C50C-407E-A947-70E740481C1C}">
                <a14:useLocalDpi xmlns:a14="http://schemas.microsoft.com/office/drawing/2010/main" val="0"/>
              </a:ext>
            </a:extLst>
          </a:blip>
          <a:srcRect l="2199" r="2199"/>
          <a:stretch/>
        </p:blipFill>
        <p:spPr>
          <a:xfrm>
            <a:off x="6105946" y="0"/>
            <a:ext cx="6086054" cy="3572982"/>
          </a:xfrm>
          <a:prstGeom prst="rect">
            <a:avLst/>
          </a:prstGeom>
        </p:spPr>
      </p:pic>
      <p:sp>
        <p:nvSpPr>
          <p:cNvPr id="26" name="TextBox 25">
            <a:extLst>
              <a:ext uri="{FF2B5EF4-FFF2-40B4-BE49-F238E27FC236}">
                <a16:creationId xmlns:a16="http://schemas.microsoft.com/office/drawing/2014/main" id="{55F36FD7-B2DB-60B5-E5DE-B138286F0F00}"/>
              </a:ext>
            </a:extLst>
          </p:cNvPr>
          <p:cNvSpPr txBox="1"/>
          <p:nvPr/>
        </p:nvSpPr>
        <p:spPr>
          <a:xfrm>
            <a:off x="415840" y="806378"/>
            <a:ext cx="4980041" cy="923330"/>
          </a:xfrm>
          <a:prstGeom prst="rect">
            <a:avLst/>
          </a:prstGeom>
          <a:noFill/>
        </p:spPr>
        <p:txBody>
          <a:bodyPr wrap="square" rtlCol="0">
            <a:spAutoFit/>
          </a:bodyPr>
          <a:lstStyle/>
          <a:p>
            <a:pPr marL="285750" indent="-285750" algn="just">
              <a:buFont typeface="Arial" panose="020B0604020202020204" pitchFamily="34" charset="0"/>
              <a:buChar char="•"/>
            </a:pPr>
            <a:r>
              <a:rPr lang="en-GB" dirty="0">
                <a:latin typeface="+mj-lt"/>
              </a:rPr>
              <a:t>Leaderboard system is used to display all previous games played from either 3 holes or 5 holes game mode</a:t>
            </a:r>
          </a:p>
        </p:txBody>
      </p:sp>
      <p:pic>
        <p:nvPicPr>
          <p:cNvPr id="4" name="Picture 3">
            <a:extLst>
              <a:ext uri="{FF2B5EF4-FFF2-40B4-BE49-F238E27FC236}">
                <a16:creationId xmlns:a16="http://schemas.microsoft.com/office/drawing/2014/main" id="{2ABFC47C-3626-49B8-5512-988980CBA0A1}"/>
              </a:ext>
            </a:extLst>
          </p:cNvPr>
          <p:cNvPicPr>
            <a:picLocks noChangeAspect="1"/>
          </p:cNvPicPr>
          <p:nvPr/>
        </p:nvPicPr>
        <p:blipFill rotWithShape="1">
          <a:blip r:embed="rId3">
            <a:extLst>
              <a:ext uri="{28A0092B-C50C-407E-A947-70E740481C1C}">
                <a14:useLocalDpi xmlns:a14="http://schemas.microsoft.com/office/drawing/2010/main" val="0"/>
              </a:ext>
            </a:extLst>
          </a:blip>
          <a:srcRect t="1683" b="1683"/>
          <a:stretch/>
        </p:blipFill>
        <p:spPr>
          <a:xfrm>
            <a:off x="6105946" y="3572981"/>
            <a:ext cx="6086054" cy="3285019"/>
          </a:xfrm>
          <a:prstGeom prst="rect">
            <a:avLst/>
          </a:prstGeom>
        </p:spPr>
      </p:pic>
      <p:sp>
        <p:nvSpPr>
          <p:cNvPr id="7" name="TextBox 6">
            <a:extLst>
              <a:ext uri="{FF2B5EF4-FFF2-40B4-BE49-F238E27FC236}">
                <a16:creationId xmlns:a16="http://schemas.microsoft.com/office/drawing/2014/main" id="{F7536923-9B28-813C-5CD5-335C12FE29C0}"/>
              </a:ext>
            </a:extLst>
          </p:cNvPr>
          <p:cNvSpPr txBox="1"/>
          <p:nvPr/>
        </p:nvSpPr>
        <p:spPr>
          <a:xfrm>
            <a:off x="415841" y="2064113"/>
            <a:ext cx="4980041" cy="646331"/>
          </a:xfrm>
          <a:prstGeom prst="rect">
            <a:avLst/>
          </a:prstGeom>
          <a:noFill/>
        </p:spPr>
        <p:txBody>
          <a:bodyPr wrap="square" rtlCol="0">
            <a:spAutoFit/>
          </a:bodyPr>
          <a:lstStyle/>
          <a:p>
            <a:pPr marL="285750" indent="-285750" algn="just">
              <a:buFont typeface="Arial" panose="020B0604020202020204" pitchFamily="34" charset="0"/>
              <a:buChar char="•"/>
            </a:pPr>
            <a:r>
              <a:rPr lang="en-GB" dirty="0">
                <a:latin typeface="+mj-lt"/>
              </a:rPr>
              <a:t>The leaderboard can filter between each game score, stokes and time </a:t>
            </a:r>
          </a:p>
        </p:txBody>
      </p:sp>
    </p:spTree>
    <p:extLst>
      <p:ext uri="{BB962C8B-B14F-4D97-AF65-F5344CB8AC3E}">
        <p14:creationId xmlns:p14="http://schemas.microsoft.com/office/powerpoint/2010/main" val="141142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E525C139-7599-E1C0-399F-85DC2FE1D47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3891F65-95E8-C090-0758-6326C18FB989}"/>
              </a:ext>
            </a:extLst>
          </p:cNvPr>
          <p:cNvSpPr>
            <a:spLocks noGrp="1"/>
          </p:cNvSpPr>
          <p:nvPr>
            <p:ph type="ftr" sz="quarter" idx="11"/>
          </p:nvPr>
        </p:nvSpPr>
        <p:spPr>
          <a:xfrm>
            <a:off x="724738" y="151745"/>
            <a:ext cx="4362248" cy="654633"/>
          </a:xfrm>
          <a:noFill/>
          <a:ln>
            <a:solidFill>
              <a:schemeClr val="bg1"/>
            </a:solidFill>
          </a:ln>
        </p:spPr>
        <p:txBody>
          <a:bodyPr/>
          <a:lstStyle/>
          <a:p>
            <a:pPr algn="ctr"/>
            <a:r>
              <a:rPr lang="en-US" sz="2800" dirty="0">
                <a:latin typeface="Retro Gaming" panose="00000400000000000000" pitchFamily="2" charset="0"/>
              </a:rPr>
              <a:t>STORE</a:t>
            </a:r>
          </a:p>
        </p:txBody>
      </p:sp>
      <p:pic>
        <p:nvPicPr>
          <p:cNvPr id="24" name="Picture 23">
            <a:extLst>
              <a:ext uri="{FF2B5EF4-FFF2-40B4-BE49-F238E27FC236}">
                <a16:creationId xmlns:a16="http://schemas.microsoft.com/office/drawing/2014/main" id="{EDDB295F-E2B9-DCEC-0C0C-295B51CA30C4}"/>
              </a:ext>
            </a:extLst>
          </p:cNvPr>
          <p:cNvPicPr>
            <a:picLocks noChangeAspect="1"/>
          </p:cNvPicPr>
          <p:nvPr/>
        </p:nvPicPr>
        <p:blipFill rotWithShape="1">
          <a:blip r:embed="rId2">
            <a:extLst>
              <a:ext uri="{28A0092B-C50C-407E-A947-70E740481C1C}">
                <a14:useLocalDpi xmlns:a14="http://schemas.microsoft.com/office/drawing/2010/main" val="0"/>
              </a:ext>
            </a:extLst>
          </a:blip>
          <a:srcRect l="1908" r="1908"/>
          <a:stretch/>
        </p:blipFill>
        <p:spPr>
          <a:xfrm>
            <a:off x="6105946" y="0"/>
            <a:ext cx="6086054" cy="3572982"/>
          </a:xfrm>
          <a:prstGeom prst="rect">
            <a:avLst/>
          </a:prstGeom>
        </p:spPr>
      </p:pic>
      <p:sp>
        <p:nvSpPr>
          <p:cNvPr id="26" name="TextBox 25">
            <a:extLst>
              <a:ext uri="{FF2B5EF4-FFF2-40B4-BE49-F238E27FC236}">
                <a16:creationId xmlns:a16="http://schemas.microsoft.com/office/drawing/2014/main" id="{2EF6900A-9979-9CAA-38EA-0C91A818A17B}"/>
              </a:ext>
            </a:extLst>
          </p:cNvPr>
          <p:cNvSpPr txBox="1"/>
          <p:nvPr/>
        </p:nvSpPr>
        <p:spPr>
          <a:xfrm>
            <a:off x="415840" y="806378"/>
            <a:ext cx="4980041" cy="1477328"/>
          </a:xfrm>
          <a:prstGeom prst="rect">
            <a:avLst/>
          </a:prstGeom>
          <a:noFill/>
        </p:spPr>
        <p:txBody>
          <a:bodyPr wrap="square" rtlCol="0">
            <a:spAutoFit/>
          </a:bodyPr>
          <a:lstStyle/>
          <a:p>
            <a:pPr marL="285750" indent="-285750" algn="just">
              <a:buFont typeface="Arial" panose="020B0604020202020204" pitchFamily="34" charset="0"/>
              <a:buChar char="•"/>
            </a:pPr>
            <a:r>
              <a:rPr lang="en-GB" dirty="0">
                <a:latin typeface="+mj-lt"/>
              </a:rPr>
              <a:t>Coins can be earned through gameplay, each level completed is worth 16 coins. Amount earnt are fixed and do not change with score. Coins are only assigned to the player account that is currently playing</a:t>
            </a:r>
          </a:p>
        </p:txBody>
      </p:sp>
      <p:pic>
        <p:nvPicPr>
          <p:cNvPr id="4" name="Picture 3">
            <a:extLst>
              <a:ext uri="{FF2B5EF4-FFF2-40B4-BE49-F238E27FC236}">
                <a16:creationId xmlns:a16="http://schemas.microsoft.com/office/drawing/2014/main" id="{F8486401-B631-600E-8FC8-1AB6D356C5F6}"/>
              </a:ext>
            </a:extLst>
          </p:cNvPr>
          <p:cNvPicPr>
            <a:picLocks noChangeAspect="1"/>
          </p:cNvPicPr>
          <p:nvPr/>
        </p:nvPicPr>
        <p:blipFill rotWithShape="1">
          <a:blip r:embed="rId3">
            <a:extLst>
              <a:ext uri="{28A0092B-C50C-407E-A947-70E740481C1C}">
                <a14:useLocalDpi xmlns:a14="http://schemas.microsoft.com/office/drawing/2010/main" val="0"/>
              </a:ext>
            </a:extLst>
          </a:blip>
          <a:srcRect t="1888" b="1888"/>
          <a:stretch/>
        </p:blipFill>
        <p:spPr>
          <a:xfrm>
            <a:off x="6105946" y="3572981"/>
            <a:ext cx="6086054" cy="3285019"/>
          </a:xfrm>
          <a:prstGeom prst="rect">
            <a:avLst/>
          </a:prstGeom>
        </p:spPr>
      </p:pic>
      <p:sp>
        <p:nvSpPr>
          <p:cNvPr id="7" name="TextBox 6">
            <a:extLst>
              <a:ext uri="{FF2B5EF4-FFF2-40B4-BE49-F238E27FC236}">
                <a16:creationId xmlns:a16="http://schemas.microsoft.com/office/drawing/2014/main" id="{C63C59F0-048C-AAE4-7F5F-F87606C5D372}"/>
              </a:ext>
            </a:extLst>
          </p:cNvPr>
          <p:cNvSpPr txBox="1"/>
          <p:nvPr/>
        </p:nvSpPr>
        <p:spPr>
          <a:xfrm>
            <a:off x="415840" y="2372652"/>
            <a:ext cx="4980041" cy="1200329"/>
          </a:xfrm>
          <a:prstGeom prst="rect">
            <a:avLst/>
          </a:prstGeom>
          <a:noFill/>
        </p:spPr>
        <p:txBody>
          <a:bodyPr wrap="square" rtlCol="0">
            <a:spAutoFit/>
          </a:bodyPr>
          <a:lstStyle/>
          <a:p>
            <a:pPr marL="285750" indent="-285750" algn="just">
              <a:buFont typeface="Arial" panose="020B0604020202020204" pitchFamily="34" charset="0"/>
              <a:buChar char="•"/>
            </a:pPr>
            <a:r>
              <a:rPr lang="en-GB" dirty="0">
                <a:latin typeface="+mj-lt"/>
              </a:rPr>
              <a:t>Coins can be used to purchases golf ball skins, which after purchase are saved to the user account only and cannot be purchased again by the same player </a:t>
            </a:r>
          </a:p>
        </p:txBody>
      </p:sp>
      <p:sp>
        <p:nvSpPr>
          <p:cNvPr id="2" name="TextBox 1">
            <a:extLst>
              <a:ext uri="{FF2B5EF4-FFF2-40B4-BE49-F238E27FC236}">
                <a16:creationId xmlns:a16="http://schemas.microsoft.com/office/drawing/2014/main" id="{32765BD0-F585-06D0-B0C0-27CA4D72CD0E}"/>
              </a:ext>
            </a:extLst>
          </p:cNvPr>
          <p:cNvSpPr txBox="1"/>
          <p:nvPr/>
        </p:nvSpPr>
        <p:spPr>
          <a:xfrm>
            <a:off x="415840" y="3661927"/>
            <a:ext cx="4980041" cy="369332"/>
          </a:xfrm>
          <a:prstGeom prst="rect">
            <a:avLst/>
          </a:prstGeom>
          <a:noFill/>
        </p:spPr>
        <p:txBody>
          <a:bodyPr wrap="square" rtlCol="0">
            <a:spAutoFit/>
          </a:bodyPr>
          <a:lstStyle/>
          <a:p>
            <a:pPr marL="285750" indent="-285750" algn="just">
              <a:buFont typeface="Arial" panose="020B0604020202020204" pitchFamily="34" charset="0"/>
              <a:buChar char="•"/>
            </a:pPr>
            <a:r>
              <a:rPr lang="en-GB" dirty="0">
                <a:latin typeface="+mj-lt"/>
              </a:rPr>
              <a:t>Skins then can be selected and used in game</a:t>
            </a:r>
          </a:p>
        </p:txBody>
      </p:sp>
      <p:pic>
        <p:nvPicPr>
          <p:cNvPr id="6" name="Picture 5">
            <a:extLst>
              <a:ext uri="{FF2B5EF4-FFF2-40B4-BE49-F238E27FC236}">
                <a16:creationId xmlns:a16="http://schemas.microsoft.com/office/drawing/2014/main" id="{17B52323-7EDB-FF85-5204-68F761005A5B}"/>
              </a:ext>
            </a:extLst>
          </p:cNvPr>
          <p:cNvPicPr>
            <a:picLocks noChangeAspect="1"/>
          </p:cNvPicPr>
          <p:nvPr/>
        </p:nvPicPr>
        <p:blipFill rotWithShape="1">
          <a:blip r:embed="rId4">
            <a:extLst>
              <a:ext uri="{28A0092B-C50C-407E-A947-70E740481C1C}">
                <a14:useLocalDpi xmlns:a14="http://schemas.microsoft.com/office/drawing/2010/main" val="0"/>
              </a:ext>
            </a:extLst>
          </a:blip>
          <a:srcRect r="8081" b="-800"/>
          <a:stretch/>
        </p:blipFill>
        <p:spPr>
          <a:xfrm>
            <a:off x="6105946" y="0"/>
            <a:ext cx="6105945" cy="3758506"/>
          </a:xfrm>
          <a:prstGeom prst="rect">
            <a:avLst/>
          </a:prstGeom>
        </p:spPr>
      </p:pic>
    </p:spTree>
    <p:extLst>
      <p:ext uri="{BB962C8B-B14F-4D97-AF65-F5344CB8AC3E}">
        <p14:creationId xmlns:p14="http://schemas.microsoft.com/office/powerpoint/2010/main" val="1444999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E86B4794-B843-4990-DF17-4934F40FA15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43F794C-7364-54DF-0862-C8E9D8E12EE2}"/>
              </a:ext>
            </a:extLst>
          </p:cNvPr>
          <p:cNvSpPr>
            <a:spLocks noGrp="1"/>
          </p:cNvSpPr>
          <p:nvPr>
            <p:ph type="ftr" sz="quarter" idx="11"/>
          </p:nvPr>
        </p:nvSpPr>
        <p:spPr>
          <a:xfrm>
            <a:off x="724738" y="151745"/>
            <a:ext cx="4362248" cy="654633"/>
          </a:xfrm>
          <a:noFill/>
          <a:ln>
            <a:solidFill>
              <a:schemeClr val="bg1"/>
            </a:solidFill>
          </a:ln>
        </p:spPr>
        <p:txBody>
          <a:bodyPr/>
          <a:lstStyle/>
          <a:p>
            <a:pPr algn="ctr"/>
            <a:r>
              <a:rPr lang="en-US" sz="2800" dirty="0">
                <a:latin typeface="Retro Gaming" panose="00000400000000000000" pitchFamily="2" charset="0"/>
              </a:rPr>
              <a:t>LEVEL EDITOR</a:t>
            </a:r>
          </a:p>
        </p:txBody>
      </p:sp>
      <p:pic>
        <p:nvPicPr>
          <p:cNvPr id="24" name="Picture 23">
            <a:extLst>
              <a:ext uri="{FF2B5EF4-FFF2-40B4-BE49-F238E27FC236}">
                <a16:creationId xmlns:a16="http://schemas.microsoft.com/office/drawing/2014/main" id="{ED6D814E-8BC1-221D-FA72-ECD7D30D6D1D}"/>
              </a:ext>
            </a:extLst>
          </p:cNvPr>
          <p:cNvPicPr>
            <a:picLocks noChangeAspect="1"/>
          </p:cNvPicPr>
          <p:nvPr/>
        </p:nvPicPr>
        <p:blipFill rotWithShape="1">
          <a:blip r:embed="rId2">
            <a:extLst>
              <a:ext uri="{28A0092B-C50C-407E-A947-70E740481C1C}">
                <a14:useLocalDpi xmlns:a14="http://schemas.microsoft.com/office/drawing/2010/main" val="0"/>
              </a:ext>
            </a:extLst>
          </a:blip>
          <a:srcRect l="5631" r="5631"/>
          <a:stretch/>
        </p:blipFill>
        <p:spPr>
          <a:xfrm>
            <a:off x="6105946" y="0"/>
            <a:ext cx="6086054" cy="3572982"/>
          </a:xfrm>
          <a:prstGeom prst="rect">
            <a:avLst/>
          </a:prstGeom>
        </p:spPr>
      </p:pic>
      <p:sp>
        <p:nvSpPr>
          <p:cNvPr id="26" name="TextBox 25">
            <a:extLst>
              <a:ext uri="{FF2B5EF4-FFF2-40B4-BE49-F238E27FC236}">
                <a16:creationId xmlns:a16="http://schemas.microsoft.com/office/drawing/2014/main" id="{4A6477B1-7368-4E96-0435-B09771039805}"/>
              </a:ext>
            </a:extLst>
          </p:cNvPr>
          <p:cNvSpPr txBox="1"/>
          <p:nvPr/>
        </p:nvSpPr>
        <p:spPr>
          <a:xfrm>
            <a:off x="415831" y="806378"/>
            <a:ext cx="4980041" cy="369332"/>
          </a:xfrm>
          <a:prstGeom prst="rect">
            <a:avLst/>
          </a:prstGeom>
          <a:noFill/>
        </p:spPr>
        <p:txBody>
          <a:bodyPr wrap="square" rtlCol="0">
            <a:spAutoFit/>
          </a:bodyPr>
          <a:lstStyle/>
          <a:p>
            <a:pPr marL="285750" indent="-285750" algn="just">
              <a:buFont typeface="Arial" panose="020B0604020202020204" pitchFamily="34" charset="0"/>
              <a:buChar char="•"/>
            </a:pPr>
            <a:r>
              <a:rPr lang="en-GB" dirty="0">
                <a:latin typeface="+mj-lt"/>
              </a:rPr>
              <a:t>Level Editor is used to create levels for the game</a:t>
            </a:r>
          </a:p>
        </p:txBody>
      </p:sp>
      <p:sp>
        <p:nvSpPr>
          <p:cNvPr id="7" name="TextBox 6">
            <a:extLst>
              <a:ext uri="{FF2B5EF4-FFF2-40B4-BE49-F238E27FC236}">
                <a16:creationId xmlns:a16="http://schemas.microsoft.com/office/drawing/2014/main" id="{EE202576-043E-597F-E08C-5B2C593743F2}"/>
              </a:ext>
            </a:extLst>
          </p:cNvPr>
          <p:cNvSpPr txBox="1"/>
          <p:nvPr/>
        </p:nvSpPr>
        <p:spPr>
          <a:xfrm>
            <a:off x="415832" y="1289279"/>
            <a:ext cx="4980041" cy="1200329"/>
          </a:xfrm>
          <a:prstGeom prst="rect">
            <a:avLst/>
          </a:prstGeom>
          <a:noFill/>
        </p:spPr>
        <p:txBody>
          <a:bodyPr wrap="square" rtlCol="0">
            <a:spAutoFit/>
          </a:bodyPr>
          <a:lstStyle/>
          <a:p>
            <a:pPr marL="285750" indent="-285750" algn="just">
              <a:buFont typeface="Arial" panose="020B0604020202020204" pitchFamily="34" charset="0"/>
              <a:buChar char="•"/>
            </a:pPr>
            <a:r>
              <a:rPr lang="en-GB" dirty="0">
                <a:latin typeface="+mj-lt"/>
              </a:rPr>
              <a:t>The level editor uses a grid system for placement of all images, so it track and get consistent placement of images, that are saved into 2D array.</a:t>
            </a:r>
          </a:p>
        </p:txBody>
      </p:sp>
      <p:sp>
        <p:nvSpPr>
          <p:cNvPr id="2" name="TextBox 1">
            <a:extLst>
              <a:ext uri="{FF2B5EF4-FFF2-40B4-BE49-F238E27FC236}">
                <a16:creationId xmlns:a16="http://schemas.microsoft.com/office/drawing/2014/main" id="{91C41603-4FD8-CD64-CEDF-D304733AA531}"/>
              </a:ext>
            </a:extLst>
          </p:cNvPr>
          <p:cNvSpPr txBox="1"/>
          <p:nvPr/>
        </p:nvSpPr>
        <p:spPr>
          <a:xfrm>
            <a:off x="415833" y="2688142"/>
            <a:ext cx="4980041" cy="646331"/>
          </a:xfrm>
          <a:prstGeom prst="rect">
            <a:avLst/>
          </a:prstGeom>
          <a:noFill/>
        </p:spPr>
        <p:txBody>
          <a:bodyPr wrap="square" rtlCol="0">
            <a:spAutoFit/>
          </a:bodyPr>
          <a:lstStyle/>
          <a:p>
            <a:pPr marL="285750" indent="-285750" algn="just">
              <a:buFont typeface="Arial" panose="020B0604020202020204" pitchFamily="34" charset="0"/>
              <a:buChar char="•"/>
            </a:pPr>
            <a:r>
              <a:rPr lang="en-GB" dirty="0">
                <a:latin typeface="+mj-lt"/>
              </a:rPr>
              <a:t>To use the editor, just press image you want to use and place it into your desired grid </a:t>
            </a:r>
          </a:p>
        </p:txBody>
      </p:sp>
      <p:pic>
        <p:nvPicPr>
          <p:cNvPr id="12" name="Picture 11">
            <a:extLst>
              <a:ext uri="{FF2B5EF4-FFF2-40B4-BE49-F238E27FC236}">
                <a16:creationId xmlns:a16="http://schemas.microsoft.com/office/drawing/2014/main" id="{C23334EA-315D-EED1-3586-BC34A053B2F1}"/>
              </a:ext>
            </a:extLst>
          </p:cNvPr>
          <p:cNvPicPr>
            <a:picLocks noChangeAspect="1"/>
          </p:cNvPicPr>
          <p:nvPr/>
        </p:nvPicPr>
        <p:blipFill rotWithShape="1">
          <a:blip r:embed="rId3">
            <a:extLst>
              <a:ext uri="{28A0092B-C50C-407E-A947-70E740481C1C}">
                <a14:useLocalDpi xmlns:a14="http://schemas.microsoft.com/office/drawing/2010/main" val="0"/>
              </a:ext>
            </a:extLst>
          </a:blip>
          <a:srcRect l="66" r="66"/>
          <a:stretch/>
        </p:blipFill>
        <p:spPr>
          <a:xfrm>
            <a:off x="6107665" y="3572981"/>
            <a:ext cx="6084335" cy="3285019"/>
          </a:xfrm>
          <a:prstGeom prst="rect">
            <a:avLst/>
          </a:prstGeom>
        </p:spPr>
      </p:pic>
      <p:sp>
        <p:nvSpPr>
          <p:cNvPr id="13" name="TextBox 12">
            <a:extLst>
              <a:ext uri="{FF2B5EF4-FFF2-40B4-BE49-F238E27FC236}">
                <a16:creationId xmlns:a16="http://schemas.microsoft.com/office/drawing/2014/main" id="{9657C5D2-181B-FFB1-1712-DC151A0ED483}"/>
              </a:ext>
            </a:extLst>
          </p:cNvPr>
          <p:cNvSpPr txBox="1"/>
          <p:nvPr/>
        </p:nvSpPr>
        <p:spPr>
          <a:xfrm>
            <a:off x="415833" y="3569044"/>
            <a:ext cx="4980041" cy="923330"/>
          </a:xfrm>
          <a:prstGeom prst="rect">
            <a:avLst/>
          </a:prstGeom>
          <a:noFill/>
        </p:spPr>
        <p:txBody>
          <a:bodyPr wrap="square" rtlCol="0">
            <a:spAutoFit/>
          </a:bodyPr>
          <a:lstStyle/>
          <a:p>
            <a:pPr marL="285750" indent="-285750" algn="just">
              <a:buFont typeface="Arial" panose="020B0604020202020204" pitchFamily="34" charset="0"/>
              <a:buChar char="•"/>
            </a:pPr>
            <a:r>
              <a:rPr lang="en-GB" dirty="0">
                <a:latin typeface="+mj-lt"/>
              </a:rPr>
              <a:t>There is 16 possible rows and 150 columns for each level. Grid size is determined by the size of screen</a:t>
            </a:r>
          </a:p>
        </p:txBody>
      </p:sp>
      <p:sp>
        <p:nvSpPr>
          <p:cNvPr id="15" name="TextBox 14">
            <a:extLst>
              <a:ext uri="{FF2B5EF4-FFF2-40B4-BE49-F238E27FC236}">
                <a16:creationId xmlns:a16="http://schemas.microsoft.com/office/drawing/2014/main" id="{53F9F26B-37A6-3495-762F-052EDBE5B811}"/>
              </a:ext>
            </a:extLst>
          </p:cNvPr>
          <p:cNvSpPr txBox="1"/>
          <p:nvPr/>
        </p:nvSpPr>
        <p:spPr>
          <a:xfrm>
            <a:off x="415834" y="4615326"/>
            <a:ext cx="4980041" cy="923330"/>
          </a:xfrm>
          <a:prstGeom prst="rect">
            <a:avLst/>
          </a:prstGeom>
          <a:noFill/>
        </p:spPr>
        <p:txBody>
          <a:bodyPr wrap="square" rtlCol="0">
            <a:spAutoFit/>
          </a:bodyPr>
          <a:lstStyle/>
          <a:p>
            <a:pPr marL="285750" indent="-285750" algn="just">
              <a:buFont typeface="Arial" panose="020B0604020202020204" pitchFamily="34" charset="0"/>
              <a:buChar char="•"/>
            </a:pPr>
            <a:r>
              <a:rPr lang="en-GB" dirty="0">
                <a:latin typeface="+mj-lt"/>
              </a:rPr>
              <a:t>After creating the level, it will be saved using the pickle module and loaded through the save module</a:t>
            </a:r>
          </a:p>
        </p:txBody>
      </p:sp>
      <p:sp>
        <p:nvSpPr>
          <p:cNvPr id="16" name="TextBox 15">
            <a:extLst>
              <a:ext uri="{FF2B5EF4-FFF2-40B4-BE49-F238E27FC236}">
                <a16:creationId xmlns:a16="http://schemas.microsoft.com/office/drawing/2014/main" id="{19240832-FFE6-B397-36F0-863A5B05F6D2}"/>
              </a:ext>
            </a:extLst>
          </p:cNvPr>
          <p:cNvSpPr txBox="1"/>
          <p:nvPr/>
        </p:nvSpPr>
        <p:spPr>
          <a:xfrm>
            <a:off x="415835" y="5657671"/>
            <a:ext cx="4980041" cy="1200329"/>
          </a:xfrm>
          <a:prstGeom prst="rect">
            <a:avLst/>
          </a:prstGeom>
          <a:noFill/>
        </p:spPr>
        <p:txBody>
          <a:bodyPr wrap="square" rtlCol="0">
            <a:spAutoFit/>
          </a:bodyPr>
          <a:lstStyle/>
          <a:p>
            <a:pPr marL="285750" indent="-285750" algn="just">
              <a:buFont typeface="Arial" panose="020B0604020202020204" pitchFamily="34" charset="0"/>
              <a:buChar char="•"/>
            </a:pPr>
            <a:r>
              <a:rPr lang="en-GB" dirty="0">
                <a:latin typeface="+mj-lt"/>
              </a:rPr>
              <a:t>The level editor was based on youtuber called coding with Russ Level Editor tutorial but rewritten with heavier use of OOP and altered for this game use </a:t>
            </a:r>
          </a:p>
        </p:txBody>
      </p:sp>
    </p:spTree>
    <p:extLst>
      <p:ext uri="{BB962C8B-B14F-4D97-AF65-F5344CB8AC3E}">
        <p14:creationId xmlns:p14="http://schemas.microsoft.com/office/powerpoint/2010/main" val="3704192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67A82F-D050-0A01-3227-A5671DDD29E5}"/>
            </a:ext>
          </a:extLst>
        </p:cNvPr>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74690"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Picture 5" descr="Computer script on a screen">
            <a:extLst>
              <a:ext uri="{FF2B5EF4-FFF2-40B4-BE49-F238E27FC236}">
                <a16:creationId xmlns:a16="http://schemas.microsoft.com/office/drawing/2014/main" id="{EF655BA2-6E6E-271D-609F-3F714CEF2670}"/>
              </a:ext>
            </a:extLst>
          </p:cNvPr>
          <p:cNvPicPr>
            <a:picLocks noChangeAspect="1"/>
          </p:cNvPicPr>
          <p:nvPr/>
        </p:nvPicPr>
        <p:blipFill rotWithShape="1">
          <a:blip r:embed="rId2"/>
          <a:srcRect l="6807" r="46580" b="-2"/>
          <a:stretch/>
        </p:blipFill>
        <p:spPr>
          <a:xfrm>
            <a:off x="20" y="-1"/>
            <a:ext cx="4788992" cy="6858001"/>
          </a:xfrm>
          <a:prstGeom prst="rect">
            <a:avLst/>
          </a:prstGeom>
        </p:spPr>
      </p:pic>
      <p:sp>
        <p:nvSpPr>
          <p:cNvPr id="5" name="Footer Placeholder 2">
            <a:extLst>
              <a:ext uri="{FF2B5EF4-FFF2-40B4-BE49-F238E27FC236}">
                <a16:creationId xmlns:a16="http://schemas.microsoft.com/office/drawing/2014/main" id="{2540C507-FC60-01DF-EF3A-414D18D077EA}"/>
              </a:ext>
            </a:extLst>
          </p:cNvPr>
          <p:cNvSpPr txBox="1">
            <a:spLocks/>
          </p:cNvSpPr>
          <p:nvPr/>
        </p:nvSpPr>
        <p:spPr>
          <a:xfrm>
            <a:off x="7112990" y="402218"/>
            <a:ext cx="5299544" cy="654633"/>
          </a:xfrm>
          <a:prstGeom prst="rect">
            <a:avLst/>
          </a:prstGeom>
          <a:noFill/>
          <a:ln>
            <a:solidFill>
              <a:schemeClr val="bg1"/>
            </a:solidFill>
          </a:ln>
        </p:spPr>
        <p:txBody>
          <a:bodyPr vert="horz" lIns="91440" tIns="45720" rIns="91440" bIns="45720" rtlCol="0" anchor="ctr"/>
          <a:lstStyle>
            <a:defPPr>
              <a:defRPr lang="en-US"/>
            </a:defPPr>
            <a:lvl1pPr marL="0" algn="l" defTabSz="914400" rtl="0" eaLnBrk="1" latinLnBrk="0" hangingPunct="1">
              <a:defRPr sz="105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800" dirty="0">
                <a:latin typeface="Retro Gaming" panose="00000400000000000000" pitchFamily="2" charset="0"/>
              </a:rPr>
              <a:t>AIM OF THE PROJECT</a:t>
            </a:r>
          </a:p>
        </p:txBody>
      </p:sp>
      <p:graphicFrame>
        <p:nvGraphicFramePr>
          <p:cNvPr id="20" name="TextBox 3">
            <a:extLst>
              <a:ext uri="{FF2B5EF4-FFF2-40B4-BE49-F238E27FC236}">
                <a16:creationId xmlns:a16="http://schemas.microsoft.com/office/drawing/2014/main" id="{32230AAF-A35F-0C55-2716-8EC9DB00282C}"/>
              </a:ext>
            </a:extLst>
          </p:cNvPr>
          <p:cNvGraphicFramePr/>
          <p:nvPr>
            <p:extLst>
              <p:ext uri="{D42A27DB-BD31-4B8C-83A1-F6EECF244321}">
                <p14:modId xmlns:p14="http://schemas.microsoft.com/office/powerpoint/2010/main" val="2391494386"/>
              </p:ext>
            </p:extLst>
          </p:nvPr>
        </p:nvGraphicFramePr>
        <p:xfrm>
          <a:off x="5777606" y="1444753"/>
          <a:ext cx="6117336" cy="3931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92342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AA0E22D7-FDAD-0A7F-3BA8-40E51DF5C18D}"/>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2E97CF89-C19D-D0B1-08F7-44ABD04EBF1E}"/>
              </a:ext>
            </a:extLst>
          </p:cNvPr>
          <p:cNvSpPr txBox="1"/>
          <p:nvPr/>
        </p:nvSpPr>
        <p:spPr>
          <a:xfrm>
            <a:off x="3605979" y="3102917"/>
            <a:ext cx="4980041" cy="461665"/>
          </a:xfrm>
          <a:prstGeom prst="rect">
            <a:avLst/>
          </a:prstGeom>
          <a:noFill/>
        </p:spPr>
        <p:txBody>
          <a:bodyPr wrap="square" rtlCol="0">
            <a:spAutoFit/>
          </a:bodyPr>
          <a:lstStyle/>
          <a:p>
            <a:pPr algn="ctr"/>
            <a:r>
              <a:rPr lang="en-GB" sz="2400" dirty="0">
                <a:latin typeface="Retro Gaming" panose="00000400000000000000" pitchFamily="2" charset="0"/>
              </a:rPr>
              <a:t>LIVE DEMO OR VIDEO</a:t>
            </a:r>
          </a:p>
        </p:txBody>
      </p:sp>
    </p:spTree>
    <p:extLst>
      <p:ext uri="{BB962C8B-B14F-4D97-AF65-F5344CB8AC3E}">
        <p14:creationId xmlns:p14="http://schemas.microsoft.com/office/powerpoint/2010/main" val="3109556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F50DD692-67E0-CBB0-DAD8-3D2ED2798D56}"/>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3D33D4BF-0AE9-41C6-280A-BEDC1BE99030}"/>
              </a:ext>
            </a:extLst>
          </p:cNvPr>
          <p:cNvSpPr txBox="1"/>
          <p:nvPr/>
        </p:nvSpPr>
        <p:spPr>
          <a:xfrm>
            <a:off x="3605979" y="3102917"/>
            <a:ext cx="4980041" cy="461665"/>
          </a:xfrm>
          <a:prstGeom prst="rect">
            <a:avLst/>
          </a:prstGeom>
          <a:noFill/>
        </p:spPr>
        <p:txBody>
          <a:bodyPr wrap="square" rtlCol="0">
            <a:spAutoFit/>
          </a:bodyPr>
          <a:lstStyle/>
          <a:p>
            <a:pPr algn="ctr"/>
            <a:r>
              <a:rPr lang="en-GB" sz="2400" dirty="0">
                <a:latin typeface="Retro Gaming" panose="00000400000000000000" pitchFamily="2" charset="0"/>
              </a:rPr>
              <a:t>ANY QUESTIONS</a:t>
            </a:r>
          </a:p>
        </p:txBody>
      </p:sp>
    </p:spTree>
    <p:extLst>
      <p:ext uri="{BB962C8B-B14F-4D97-AF65-F5344CB8AC3E}">
        <p14:creationId xmlns:p14="http://schemas.microsoft.com/office/powerpoint/2010/main" val="348500388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6|10.1|1.9"/>
</p:tagLst>
</file>

<file path=ppt/tags/tag2.xml><?xml version="1.0" encoding="utf-8"?>
<p:tagLst xmlns:a="http://schemas.openxmlformats.org/drawingml/2006/main" xmlns:r="http://schemas.openxmlformats.org/officeDocument/2006/relationships" xmlns:p="http://schemas.openxmlformats.org/presentationml/2006/main">
  <p:tag name="TIMING" val="|0.6"/>
</p:tagLst>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emplate>Integral</Template>
  <TotalTime>614</TotalTime>
  <Words>932</Words>
  <Application>Microsoft Office PowerPoint</Application>
  <PresentationFormat>Widescreen</PresentationFormat>
  <Paragraphs>87</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Calisto MT</vt:lpstr>
      <vt:lpstr>Retro Gaming</vt:lpstr>
      <vt:lpstr>Univers Condensed</vt:lpstr>
      <vt:lpstr>Wingdings</vt:lpstr>
      <vt:lpstr>ChronicleVTI</vt:lpstr>
      <vt:lpstr>Erol Halim Presents: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Erol Halim Presents:  </dc:title>
  <dc:creator>erolhalim2@gmail.com</dc:creator>
  <cp:lastModifiedBy>erolhalim2@gmail.com</cp:lastModifiedBy>
  <cp:revision>9</cp:revision>
  <dcterms:created xsi:type="dcterms:W3CDTF">2024-02-07T11:04:36Z</dcterms:created>
  <dcterms:modified xsi:type="dcterms:W3CDTF">2024-02-07T21:18:58Z</dcterms:modified>
</cp:coreProperties>
</file>